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5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  <p:sldMasterId id="2147483690" r:id="rId3"/>
    <p:sldMasterId id="2147483702" r:id="rId4"/>
    <p:sldMasterId id="2147483714" r:id="rId5"/>
    <p:sldMasterId id="2147483726" r:id="rId6"/>
  </p:sldMasterIdLst>
  <p:notesMasterIdLst>
    <p:notesMasterId r:id="rId47"/>
  </p:notesMasterIdLst>
  <p:sldIdLst>
    <p:sldId id="625" r:id="rId7"/>
    <p:sldId id="551" r:id="rId8"/>
    <p:sldId id="556" r:id="rId9"/>
    <p:sldId id="557" r:id="rId10"/>
    <p:sldId id="552" r:id="rId11"/>
    <p:sldId id="558" r:id="rId12"/>
    <p:sldId id="559" r:id="rId13"/>
    <p:sldId id="560" r:id="rId14"/>
    <p:sldId id="561" r:id="rId15"/>
    <p:sldId id="563" r:id="rId16"/>
    <p:sldId id="554" r:id="rId17"/>
    <p:sldId id="567" r:id="rId18"/>
    <p:sldId id="568" r:id="rId19"/>
    <p:sldId id="569" r:id="rId20"/>
    <p:sldId id="555" r:id="rId21"/>
    <p:sldId id="311" r:id="rId22"/>
    <p:sldId id="570" r:id="rId23"/>
    <p:sldId id="571" r:id="rId24"/>
    <p:sldId id="572" r:id="rId25"/>
    <p:sldId id="573" r:id="rId26"/>
    <p:sldId id="316" r:id="rId27"/>
    <p:sldId id="317" r:id="rId28"/>
    <p:sldId id="601" r:id="rId29"/>
    <p:sldId id="548" r:id="rId30"/>
    <p:sldId id="339" r:id="rId31"/>
    <p:sldId id="340" r:id="rId32"/>
    <p:sldId id="341" r:id="rId33"/>
    <p:sldId id="342" r:id="rId34"/>
    <p:sldId id="343" r:id="rId35"/>
    <p:sldId id="478" r:id="rId36"/>
    <p:sldId id="479" r:id="rId37"/>
    <p:sldId id="480" r:id="rId38"/>
    <p:sldId id="345" r:id="rId39"/>
    <p:sldId id="346" r:id="rId40"/>
    <p:sldId id="355" r:id="rId41"/>
    <p:sldId id="574" r:id="rId42"/>
    <p:sldId id="357" r:id="rId43"/>
    <p:sldId id="358" r:id="rId44"/>
    <p:sldId id="481" r:id="rId45"/>
    <p:sldId id="482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3A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7" autoAdjust="0"/>
    <p:restoredTop sz="94660"/>
  </p:normalViewPr>
  <p:slideViewPr>
    <p:cSldViewPr snapToGrid="0">
      <p:cViewPr varScale="1">
        <p:scale>
          <a:sx n="96" d="100"/>
          <a:sy n="96" d="100"/>
        </p:scale>
        <p:origin x="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3C9DE8-9F87-4D24-882D-49E358F9B89F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C85366-06C2-4DED-88D5-3F77AA5FF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049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27444d055be_0_4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27444d055be_0_4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7444d055be_0_5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27444d055be_0_5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7444d055be_0_5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27444d055be_0_5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27444d055be_0_5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27444d055be_0_5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7444d055be_0_5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27444d055be_0_5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27444d055be_0_5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27444d055be_0_5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7444d055be_0_5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27444d055be_0_5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problem 62a from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72D2D8-810E-409F-8BAF-15A240655B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16823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</a:t>
            </a:r>
            <a:r>
              <a:rPr lang="en-US" baseline="0" dirty="0"/>
              <a:t> that multiple exclusive </a:t>
            </a:r>
            <a:r>
              <a:rPr lang="en-US" baseline="0" dirty="0" err="1"/>
              <a:t>ors</a:t>
            </a:r>
            <a:r>
              <a:rPr lang="en-US" baseline="0" dirty="0"/>
              <a:t> are true if an odd number are 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72D2D8-810E-409F-8BAF-15A240655B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22078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FTF and FFF both “work”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72D2D8-810E-409F-8BAF-15A240655B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3615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97659" y="895573"/>
            <a:ext cx="11194341" cy="0"/>
          </a:xfrm>
          <a:custGeom>
            <a:avLst/>
            <a:gdLst/>
            <a:ahLst/>
            <a:cxnLst/>
            <a:rect l="l" t="t" r="r" b="b"/>
            <a:pathLst>
              <a:path w="9818370">
                <a:moveTo>
                  <a:pt x="0" y="0"/>
                </a:moveTo>
                <a:lnTo>
                  <a:pt x="9818369" y="0"/>
                </a:lnTo>
              </a:path>
            </a:pathLst>
          </a:custGeom>
          <a:ln w="20845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 sz="1634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826796" y="909405"/>
            <a:ext cx="11365203" cy="0"/>
          </a:xfrm>
          <a:custGeom>
            <a:avLst/>
            <a:gdLst/>
            <a:ahLst/>
            <a:cxnLst/>
            <a:rect l="l" t="t" r="r" b="b"/>
            <a:pathLst>
              <a:path w="9968230">
                <a:moveTo>
                  <a:pt x="0" y="0"/>
                </a:moveTo>
                <a:lnTo>
                  <a:pt x="9968230" y="0"/>
                </a:lnTo>
              </a:path>
            </a:pathLst>
          </a:custGeom>
          <a:ln w="7547">
            <a:solidFill>
              <a:srgbClr val="CC0033"/>
            </a:solidFill>
          </a:ln>
        </p:spPr>
        <p:txBody>
          <a:bodyPr wrap="square" lIns="0" tIns="0" rIns="0" bIns="0" rtlCol="0"/>
          <a:lstStyle/>
          <a:p>
            <a:endParaRPr sz="1634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-14478" y="418395"/>
            <a:ext cx="12220958" cy="4921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77" b="0" i="0" u="heavy">
                <a:solidFill>
                  <a:srgbClr val="0033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1" y="3840480"/>
            <a:ext cx="853439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71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65701">
              <a:lnSpc>
                <a:spcPts val="871"/>
              </a:lnSpc>
            </a:pPr>
            <a:r>
              <a:rPr lang="it-IT" spc="-5">
                <a:solidFill>
                  <a:prstClr val="black"/>
                </a:solidFill>
              </a:rPr>
              <a:t>L</a:t>
            </a:r>
            <a:r>
              <a:rPr lang="it-IT" spc="-14">
                <a:solidFill>
                  <a:prstClr val="black"/>
                </a:solidFill>
              </a:rPr>
              <a:t>o</a:t>
            </a:r>
            <a:r>
              <a:rPr lang="it-IT" spc="-5">
                <a:solidFill>
                  <a:prstClr val="black"/>
                </a:solidFill>
              </a:rPr>
              <a:t>g</a:t>
            </a:r>
            <a:r>
              <a:rPr lang="it-IT">
                <a:solidFill>
                  <a:prstClr val="black"/>
                </a:solidFill>
              </a:rPr>
              <a:t>ic</a:t>
            </a:r>
            <a:r>
              <a:rPr lang="it-IT" spc="14">
                <a:solidFill>
                  <a:prstClr val="black"/>
                </a:solidFill>
              </a:rPr>
              <a:t> </a:t>
            </a:r>
            <a:r>
              <a:rPr lang="it-IT">
                <a:solidFill>
                  <a:prstClr val="black"/>
                </a:solidFill>
              </a:rPr>
              <a:t>–</a:t>
            </a:r>
            <a:r>
              <a:rPr lang="it-IT" spc="-9">
                <a:solidFill>
                  <a:prstClr val="black"/>
                </a:solidFill>
              </a:rPr>
              <a:t> </a:t>
            </a:r>
            <a:r>
              <a:rPr lang="it-IT" spc="5">
                <a:solidFill>
                  <a:prstClr val="black"/>
                </a:solidFill>
              </a:rPr>
              <a:t>C</a:t>
            </a:r>
            <a:r>
              <a:rPr lang="it-IT" spc="-9">
                <a:solidFill>
                  <a:prstClr val="black"/>
                </a:solidFill>
              </a:rPr>
              <a:t>S</a:t>
            </a:r>
            <a:r>
              <a:rPr lang="it-IT">
                <a:solidFill>
                  <a:prstClr val="black"/>
                </a:solidFill>
              </a:rPr>
              <a:t>c</a:t>
            </a:r>
            <a:r>
              <a:rPr lang="it-IT" spc="-5">
                <a:solidFill>
                  <a:prstClr val="black"/>
                </a:solidFill>
              </a:rPr>
              <a:t> 24</a:t>
            </a:r>
            <a:r>
              <a:rPr lang="it-IT">
                <a:solidFill>
                  <a:prstClr val="black"/>
                </a:solidFill>
              </a:rPr>
              <a:t>5 </a:t>
            </a:r>
            <a:r>
              <a:rPr lang="it-IT" spc="-5">
                <a:solidFill>
                  <a:prstClr val="black"/>
                </a:solidFill>
              </a:rPr>
              <a:t>v</a:t>
            </a:r>
            <a:r>
              <a:rPr lang="it-IT" spc="-14">
                <a:solidFill>
                  <a:prstClr val="black"/>
                </a:solidFill>
              </a:rPr>
              <a:t>1</a:t>
            </a:r>
            <a:r>
              <a:rPr lang="it-IT">
                <a:solidFill>
                  <a:prstClr val="black"/>
                </a:solidFill>
              </a:rPr>
              <a:t>.1 </a:t>
            </a:r>
            <a:r>
              <a:rPr lang="it-IT" spc="5">
                <a:solidFill>
                  <a:prstClr val="black"/>
                </a:solidFill>
              </a:rPr>
              <a:t>(</a:t>
            </a:r>
            <a:r>
              <a:rPr lang="it-IT">
                <a:solidFill>
                  <a:prstClr val="black"/>
                </a:solidFill>
              </a:rPr>
              <a:t>M</a:t>
            </a:r>
            <a:r>
              <a:rPr lang="it-IT" spc="-5">
                <a:solidFill>
                  <a:prstClr val="black"/>
                </a:solidFill>
              </a:rPr>
              <a:t>cCa</a:t>
            </a:r>
            <a:r>
              <a:rPr lang="it-IT" spc="-14">
                <a:solidFill>
                  <a:prstClr val="black"/>
                </a:solidFill>
              </a:rPr>
              <a:t>n</a:t>
            </a:r>
            <a:r>
              <a:rPr lang="it-IT" spc="-5">
                <a:solidFill>
                  <a:prstClr val="black"/>
                </a:solidFill>
              </a:rPr>
              <a:t>n</a:t>
            </a:r>
            <a:r>
              <a:rPr lang="it-IT">
                <a:solidFill>
                  <a:prstClr val="black"/>
                </a:solidFill>
              </a:rPr>
              <a:t>)</a:t>
            </a:r>
            <a:r>
              <a:rPr lang="it-IT" spc="9">
                <a:solidFill>
                  <a:prstClr val="black"/>
                </a:solidFill>
              </a:rPr>
              <a:t> </a:t>
            </a:r>
            <a:r>
              <a:rPr lang="it-IT">
                <a:solidFill>
                  <a:prstClr val="black"/>
                </a:solidFill>
              </a:rPr>
              <a:t>–</a:t>
            </a:r>
            <a:r>
              <a:rPr lang="it-IT" spc="-9">
                <a:solidFill>
                  <a:prstClr val="black"/>
                </a:solidFill>
              </a:rPr>
              <a:t> </a:t>
            </a:r>
            <a:r>
              <a:rPr lang="it-IT" spc="-32">
                <a:solidFill>
                  <a:prstClr val="black"/>
                </a:solidFill>
              </a:rPr>
              <a:t>p</a:t>
            </a:r>
            <a:r>
              <a:rPr lang="it-IT">
                <a:solidFill>
                  <a:prstClr val="black"/>
                </a:solidFill>
              </a:rPr>
              <a:t>.</a:t>
            </a:r>
            <a:r>
              <a:rPr lang="it-IT" spc="-5">
                <a:solidFill>
                  <a:prstClr val="black"/>
                </a:solidFill>
              </a:rPr>
              <a:t> </a:t>
            </a:r>
            <a:fld id="{81D60167-4931-47E6-BA6A-407CBD079E47}" type="slidenum">
              <a:rPr lang="it-IT" smtClean="0">
                <a:solidFill>
                  <a:prstClr val="black"/>
                </a:solidFill>
              </a:rPr>
              <a:pPr marL="65701">
                <a:lnSpc>
                  <a:spcPts val="871"/>
                </a:lnSpc>
              </a:pPr>
              <a:t>‹#›</a:t>
            </a:fld>
            <a:endParaRPr lang="it-IT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499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14478" y="418395"/>
            <a:ext cx="12220958" cy="488916"/>
          </a:xfrm>
        </p:spPr>
        <p:txBody>
          <a:bodyPr lIns="0" tIns="0" rIns="0" bIns="0"/>
          <a:lstStyle>
            <a:lvl1pPr>
              <a:defRPr sz="3177" b="0" i="0" u="heavy">
                <a:solidFill>
                  <a:srgbClr val="0033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38024" y="1142232"/>
            <a:ext cx="9715952" cy="335156"/>
          </a:xfrm>
        </p:spPr>
        <p:txBody>
          <a:bodyPr lIns="0" tIns="0" rIns="0" bIns="0"/>
          <a:lstStyle>
            <a:lvl1pPr>
              <a:defRPr sz="2178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71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65701">
              <a:lnSpc>
                <a:spcPts val="871"/>
              </a:lnSpc>
            </a:pPr>
            <a:r>
              <a:rPr lang="it-IT" spc="-5">
                <a:solidFill>
                  <a:prstClr val="black"/>
                </a:solidFill>
              </a:rPr>
              <a:t>L</a:t>
            </a:r>
            <a:r>
              <a:rPr lang="it-IT" spc="-14">
                <a:solidFill>
                  <a:prstClr val="black"/>
                </a:solidFill>
              </a:rPr>
              <a:t>o</a:t>
            </a:r>
            <a:r>
              <a:rPr lang="it-IT" spc="-5">
                <a:solidFill>
                  <a:prstClr val="black"/>
                </a:solidFill>
              </a:rPr>
              <a:t>g</a:t>
            </a:r>
            <a:r>
              <a:rPr lang="it-IT">
                <a:solidFill>
                  <a:prstClr val="black"/>
                </a:solidFill>
              </a:rPr>
              <a:t>ic</a:t>
            </a:r>
            <a:r>
              <a:rPr lang="it-IT" spc="14">
                <a:solidFill>
                  <a:prstClr val="black"/>
                </a:solidFill>
              </a:rPr>
              <a:t> </a:t>
            </a:r>
            <a:r>
              <a:rPr lang="it-IT">
                <a:solidFill>
                  <a:prstClr val="black"/>
                </a:solidFill>
              </a:rPr>
              <a:t>–</a:t>
            </a:r>
            <a:r>
              <a:rPr lang="it-IT" spc="-9">
                <a:solidFill>
                  <a:prstClr val="black"/>
                </a:solidFill>
              </a:rPr>
              <a:t> </a:t>
            </a:r>
            <a:r>
              <a:rPr lang="it-IT" spc="5">
                <a:solidFill>
                  <a:prstClr val="black"/>
                </a:solidFill>
              </a:rPr>
              <a:t>C</a:t>
            </a:r>
            <a:r>
              <a:rPr lang="it-IT" spc="-9">
                <a:solidFill>
                  <a:prstClr val="black"/>
                </a:solidFill>
              </a:rPr>
              <a:t>S</a:t>
            </a:r>
            <a:r>
              <a:rPr lang="it-IT">
                <a:solidFill>
                  <a:prstClr val="black"/>
                </a:solidFill>
              </a:rPr>
              <a:t>c</a:t>
            </a:r>
            <a:r>
              <a:rPr lang="it-IT" spc="-5">
                <a:solidFill>
                  <a:prstClr val="black"/>
                </a:solidFill>
              </a:rPr>
              <a:t> 24</a:t>
            </a:r>
            <a:r>
              <a:rPr lang="it-IT">
                <a:solidFill>
                  <a:prstClr val="black"/>
                </a:solidFill>
              </a:rPr>
              <a:t>5 </a:t>
            </a:r>
            <a:r>
              <a:rPr lang="it-IT" spc="-5">
                <a:solidFill>
                  <a:prstClr val="black"/>
                </a:solidFill>
              </a:rPr>
              <a:t>v</a:t>
            </a:r>
            <a:r>
              <a:rPr lang="it-IT" spc="-14">
                <a:solidFill>
                  <a:prstClr val="black"/>
                </a:solidFill>
              </a:rPr>
              <a:t>1</a:t>
            </a:r>
            <a:r>
              <a:rPr lang="it-IT">
                <a:solidFill>
                  <a:prstClr val="black"/>
                </a:solidFill>
              </a:rPr>
              <a:t>.1 </a:t>
            </a:r>
            <a:r>
              <a:rPr lang="it-IT" spc="5">
                <a:solidFill>
                  <a:prstClr val="black"/>
                </a:solidFill>
              </a:rPr>
              <a:t>(</a:t>
            </a:r>
            <a:r>
              <a:rPr lang="it-IT">
                <a:solidFill>
                  <a:prstClr val="black"/>
                </a:solidFill>
              </a:rPr>
              <a:t>M</a:t>
            </a:r>
            <a:r>
              <a:rPr lang="it-IT" spc="-5">
                <a:solidFill>
                  <a:prstClr val="black"/>
                </a:solidFill>
              </a:rPr>
              <a:t>cCa</a:t>
            </a:r>
            <a:r>
              <a:rPr lang="it-IT" spc="-14">
                <a:solidFill>
                  <a:prstClr val="black"/>
                </a:solidFill>
              </a:rPr>
              <a:t>n</a:t>
            </a:r>
            <a:r>
              <a:rPr lang="it-IT" spc="-5">
                <a:solidFill>
                  <a:prstClr val="black"/>
                </a:solidFill>
              </a:rPr>
              <a:t>n</a:t>
            </a:r>
            <a:r>
              <a:rPr lang="it-IT">
                <a:solidFill>
                  <a:prstClr val="black"/>
                </a:solidFill>
              </a:rPr>
              <a:t>)</a:t>
            </a:r>
            <a:r>
              <a:rPr lang="it-IT" spc="9">
                <a:solidFill>
                  <a:prstClr val="black"/>
                </a:solidFill>
              </a:rPr>
              <a:t> </a:t>
            </a:r>
            <a:r>
              <a:rPr lang="it-IT">
                <a:solidFill>
                  <a:prstClr val="black"/>
                </a:solidFill>
              </a:rPr>
              <a:t>–</a:t>
            </a:r>
            <a:r>
              <a:rPr lang="it-IT" spc="-9">
                <a:solidFill>
                  <a:prstClr val="black"/>
                </a:solidFill>
              </a:rPr>
              <a:t> </a:t>
            </a:r>
            <a:r>
              <a:rPr lang="it-IT" spc="-32">
                <a:solidFill>
                  <a:prstClr val="black"/>
                </a:solidFill>
              </a:rPr>
              <a:t>p</a:t>
            </a:r>
            <a:r>
              <a:rPr lang="it-IT">
                <a:solidFill>
                  <a:prstClr val="black"/>
                </a:solidFill>
              </a:rPr>
              <a:t>.</a:t>
            </a:r>
            <a:r>
              <a:rPr lang="it-IT" spc="-5">
                <a:solidFill>
                  <a:prstClr val="black"/>
                </a:solidFill>
              </a:rPr>
              <a:t> </a:t>
            </a:r>
            <a:fld id="{81D60167-4931-47E6-BA6A-407CBD079E47}" type="slidenum">
              <a:rPr lang="it-IT" smtClean="0">
                <a:solidFill>
                  <a:prstClr val="black"/>
                </a:solidFill>
              </a:rPr>
              <a:pPr marL="65701">
                <a:lnSpc>
                  <a:spcPts val="871"/>
                </a:lnSpc>
              </a:pPr>
              <a:t>‹#›</a:t>
            </a:fld>
            <a:endParaRPr lang="it-IT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625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97659" y="895573"/>
            <a:ext cx="11194341" cy="0"/>
          </a:xfrm>
          <a:custGeom>
            <a:avLst/>
            <a:gdLst/>
            <a:ahLst/>
            <a:cxnLst/>
            <a:rect l="l" t="t" r="r" b="b"/>
            <a:pathLst>
              <a:path w="9818370">
                <a:moveTo>
                  <a:pt x="0" y="0"/>
                </a:moveTo>
                <a:lnTo>
                  <a:pt x="9818369" y="0"/>
                </a:lnTo>
              </a:path>
            </a:pathLst>
          </a:custGeom>
          <a:ln w="20845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 sz="1634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826796" y="909405"/>
            <a:ext cx="11365203" cy="0"/>
          </a:xfrm>
          <a:custGeom>
            <a:avLst/>
            <a:gdLst/>
            <a:ahLst/>
            <a:cxnLst/>
            <a:rect l="l" t="t" r="r" b="b"/>
            <a:pathLst>
              <a:path w="9968230">
                <a:moveTo>
                  <a:pt x="0" y="0"/>
                </a:moveTo>
                <a:lnTo>
                  <a:pt x="9968230" y="0"/>
                </a:lnTo>
              </a:path>
            </a:pathLst>
          </a:custGeom>
          <a:ln w="7547">
            <a:solidFill>
              <a:srgbClr val="CC0033"/>
            </a:solidFill>
          </a:ln>
        </p:spPr>
        <p:txBody>
          <a:bodyPr wrap="square" lIns="0" tIns="0" rIns="0" bIns="0" rtlCol="0"/>
          <a:lstStyle/>
          <a:p>
            <a:endParaRPr sz="1634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14478" y="418395"/>
            <a:ext cx="12220958" cy="488916"/>
          </a:xfrm>
        </p:spPr>
        <p:txBody>
          <a:bodyPr lIns="0" tIns="0" rIns="0" bIns="0"/>
          <a:lstStyle>
            <a:lvl1pPr>
              <a:defRPr sz="3177" b="0" i="0" u="heavy">
                <a:solidFill>
                  <a:srgbClr val="0033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1" y="157734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57734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71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65701">
              <a:lnSpc>
                <a:spcPts val="871"/>
              </a:lnSpc>
            </a:pPr>
            <a:r>
              <a:rPr lang="it-IT" spc="-5">
                <a:solidFill>
                  <a:prstClr val="black"/>
                </a:solidFill>
              </a:rPr>
              <a:t>L</a:t>
            </a:r>
            <a:r>
              <a:rPr lang="it-IT" spc="-14">
                <a:solidFill>
                  <a:prstClr val="black"/>
                </a:solidFill>
              </a:rPr>
              <a:t>o</a:t>
            </a:r>
            <a:r>
              <a:rPr lang="it-IT" spc="-5">
                <a:solidFill>
                  <a:prstClr val="black"/>
                </a:solidFill>
              </a:rPr>
              <a:t>g</a:t>
            </a:r>
            <a:r>
              <a:rPr lang="it-IT">
                <a:solidFill>
                  <a:prstClr val="black"/>
                </a:solidFill>
              </a:rPr>
              <a:t>ic</a:t>
            </a:r>
            <a:r>
              <a:rPr lang="it-IT" spc="14">
                <a:solidFill>
                  <a:prstClr val="black"/>
                </a:solidFill>
              </a:rPr>
              <a:t> </a:t>
            </a:r>
            <a:r>
              <a:rPr lang="it-IT">
                <a:solidFill>
                  <a:prstClr val="black"/>
                </a:solidFill>
              </a:rPr>
              <a:t>–</a:t>
            </a:r>
            <a:r>
              <a:rPr lang="it-IT" spc="-9">
                <a:solidFill>
                  <a:prstClr val="black"/>
                </a:solidFill>
              </a:rPr>
              <a:t> </a:t>
            </a:r>
            <a:r>
              <a:rPr lang="it-IT" spc="5">
                <a:solidFill>
                  <a:prstClr val="black"/>
                </a:solidFill>
              </a:rPr>
              <a:t>C</a:t>
            </a:r>
            <a:r>
              <a:rPr lang="it-IT" spc="-9">
                <a:solidFill>
                  <a:prstClr val="black"/>
                </a:solidFill>
              </a:rPr>
              <a:t>S</a:t>
            </a:r>
            <a:r>
              <a:rPr lang="it-IT">
                <a:solidFill>
                  <a:prstClr val="black"/>
                </a:solidFill>
              </a:rPr>
              <a:t>c</a:t>
            </a:r>
            <a:r>
              <a:rPr lang="it-IT" spc="-5">
                <a:solidFill>
                  <a:prstClr val="black"/>
                </a:solidFill>
              </a:rPr>
              <a:t> 24</a:t>
            </a:r>
            <a:r>
              <a:rPr lang="it-IT">
                <a:solidFill>
                  <a:prstClr val="black"/>
                </a:solidFill>
              </a:rPr>
              <a:t>5 </a:t>
            </a:r>
            <a:r>
              <a:rPr lang="it-IT" spc="-5">
                <a:solidFill>
                  <a:prstClr val="black"/>
                </a:solidFill>
              </a:rPr>
              <a:t>v</a:t>
            </a:r>
            <a:r>
              <a:rPr lang="it-IT" spc="-14">
                <a:solidFill>
                  <a:prstClr val="black"/>
                </a:solidFill>
              </a:rPr>
              <a:t>1</a:t>
            </a:r>
            <a:r>
              <a:rPr lang="it-IT">
                <a:solidFill>
                  <a:prstClr val="black"/>
                </a:solidFill>
              </a:rPr>
              <a:t>.1 </a:t>
            </a:r>
            <a:r>
              <a:rPr lang="it-IT" spc="5">
                <a:solidFill>
                  <a:prstClr val="black"/>
                </a:solidFill>
              </a:rPr>
              <a:t>(</a:t>
            </a:r>
            <a:r>
              <a:rPr lang="it-IT">
                <a:solidFill>
                  <a:prstClr val="black"/>
                </a:solidFill>
              </a:rPr>
              <a:t>M</a:t>
            </a:r>
            <a:r>
              <a:rPr lang="it-IT" spc="-5">
                <a:solidFill>
                  <a:prstClr val="black"/>
                </a:solidFill>
              </a:rPr>
              <a:t>cCa</a:t>
            </a:r>
            <a:r>
              <a:rPr lang="it-IT" spc="-14">
                <a:solidFill>
                  <a:prstClr val="black"/>
                </a:solidFill>
              </a:rPr>
              <a:t>n</a:t>
            </a:r>
            <a:r>
              <a:rPr lang="it-IT" spc="-5">
                <a:solidFill>
                  <a:prstClr val="black"/>
                </a:solidFill>
              </a:rPr>
              <a:t>n</a:t>
            </a:r>
            <a:r>
              <a:rPr lang="it-IT">
                <a:solidFill>
                  <a:prstClr val="black"/>
                </a:solidFill>
              </a:rPr>
              <a:t>)</a:t>
            </a:r>
            <a:r>
              <a:rPr lang="it-IT" spc="9">
                <a:solidFill>
                  <a:prstClr val="black"/>
                </a:solidFill>
              </a:rPr>
              <a:t> </a:t>
            </a:r>
            <a:r>
              <a:rPr lang="it-IT">
                <a:solidFill>
                  <a:prstClr val="black"/>
                </a:solidFill>
              </a:rPr>
              <a:t>–</a:t>
            </a:r>
            <a:r>
              <a:rPr lang="it-IT" spc="-9">
                <a:solidFill>
                  <a:prstClr val="black"/>
                </a:solidFill>
              </a:rPr>
              <a:t> </a:t>
            </a:r>
            <a:r>
              <a:rPr lang="it-IT" spc="-32">
                <a:solidFill>
                  <a:prstClr val="black"/>
                </a:solidFill>
              </a:rPr>
              <a:t>p</a:t>
            </a:r>
            <a:r>
              <a:rPr lang="it-IT">
                <a:solidFill>
                  <a:prstClr val="black"/>
                </a:solidFill>
              </a:rPr>
              <a:t>.</a:t>
            </a:r>
            <a:r>
              <a:rPr lang="it-IT" spc="-5">
                <a:solidFill>
                  <a:prstClr val="black"/>
                </a:solidFill>
              </a:rPr>
              <a:t> </a:t>
            </a:r>
            <a:fld id="{81D60167-4931-47E6-BA6A-407CBD079E47}" type="slidenum">
              <a:rPr lang="it-IT" smtClean="0">
                <a:solidFill>
                  <a:prstClr val="black"/>
                </a:solidFill>
              </a:rPr>
              <a:pPr marL="65701">
                <a:lnSpc>
                  <a:spcPts val="871"/>
                </a:lnSpc>
              </a:pPr>
              <a:t>‹#›</a:t>
            </a:fld>
            <a:endParaRPr lang="it-IT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54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14478" y="418395"/>
            <a:ext cx="12220958" cy="488916"/>
          </a:xfrm>
        </p:spPr>
        <p:txBody>
          <a:bodyPr lIns="0" tIns="0" rIns="0" bIns="0"/>
          <a:lstStyle>
            <a:lvl1pPr>
              <a:defRPr sz="3177" b="0" i="0" u="heavy">
                <a:solidFill>
                  <a:srgbClr val="0033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71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65701">
              <a:lnSpc>
                <a:spcPts val="871"/>
              </a:lnSpc>
            </a:pPr>
            <a:r>
              <a:rPr lang="it-IT" spc="-5">
                <a:solidFill>
                  <a:prstClr val="black"/>
                </a:solidFill>
              </a:rPr>
              <a:t>L</a:t>
            </a:r>
            <a:r>
              <a:rPr lang="it-IT" spc="-14">
                <a:solidFill>
                  <a:prstClr val="black"/>
                </a:solidFill>
              </a:rPr>
              <a:t>o</a:t>
            </a:r>
            <a:r>
              <a:rPr lang="it-IT" spc="-5">
                <a:solidFill>
                  <a:prstClr val="black"/>
                </a:solidFill>
              </a:rPr>
              <a:t>g</a:t>
            </a:r>
            <a:r>
              <a:rPr lang="it-IT">
                <a:solidFill>
                  <a:prstClr val="black"/>
                </a:solidFill>
              </a:rPr>
              <a:t>ic</a:t>
            </a:r>
            <a:r>
              <a:rPr lang="it-IT" spc="14">
                <a:solidFill>
                  <a:prstClr val="black"/>
                </a:solidFill>
              </a:rPr>
              <a:t> </a:t>
            </a:r>
            <a:r>
              <a:rPr lang="it-IT">
                <a:solidFill>
                  <a:prstClr val="black"/>
                </a:solidFill>
              </a:rPr>
              <a:t>–</a:t>
            </a:r>
            <a:r>
              <a:rPr lang="it-IT" spc="-9">
                <a:solidFill>
                  <a:prstClr val="black"/>
                </a:solidFill>
              </a:rPr>
              <a:t> </a:t>
            </a:r>
            <a:r>
              <a:rPr lang="it-IT" spc="5">
                <a:solidFill>
                  <a:prstClr val="black"/>
                </a:solidFill>
              </a:rPr>
              <a:t>C</a:t>
            </a:r>
            <a:r>
              <a:rPr lang="it-IT" spc="-9">
                <a:solidFill>
                  <a:prstClr val="black"/>
                </a:solidFill>
              </a:rPr>
              <a:t>S</a:t>
            </a:r>
            <a:r>
              <a:rPr lang="it-IT">
                <a:solidFill>
                  <a:prstClr val="black"/>
                </a:solidFill>
              </a:rPr>
              <a:t>c</a:t>
            </a:r>
            <a:r>
              <a:rPr lang="it-IT" spc="-5">
                <a:solidFill>
                  <a:prstClr val="black"/>
                </a:solidFill>
              </a:rPr>
              <a:t> 24</a:t>
            </a:r>
            <a:r>
              <a:rPr lang="it-IT">
                <a:solidFill>
                  <a:prstClr val="black"/>
                </a:solidFill>
              </a:rPr>
              <a:t>5 </a:t>
            </a:r>
            <a:r>
              <a:rPr lang="it-IT" spc="-5">
                <a:solidFill>
                  <a:prstClr val="black"/>
                </a:solidFill>
              </a:rPr>
              <a:t>v</a:t>
            </a:r>
            <a:r>
              <a:rPr lang="it-IT" spc="-14">
                <a:solidFill>
                  <a:prstClr val="black"/>
                </a:solidFill>
              </a:rPr>
              <a:t>1</a:t>
            </a:r>
            <a:r>
              <a:rPr lang="it-IT">
                <a:solidFill>
                  <a:prstClr val="black"/>
                </a:solidFill>
              </a:rPr>
              <a:t>.1 </a:t>
            </a:r>
            <a:r>
              <a:rPr lang="it-IT" spc="5">
                <a:solidFill>
                  <a:prstClr val="black"/>
                </a:solidFill>
              </a:rPr>
              <a:t>(</a:t>
            </a:r>
            <a:r>
              <a:rPr lang="it-IT">
                <a:solidFill>
                  <a:prstClr val="black"/>
                </a:solidFill>
              </a:rPr>
              <a:t>M</a:t>
            </a:r>
            <a:r>
              <a:rPr lang="it-IT" spc="-5">
                <a:solidFill>
                  <a:prstClr val="black"/>
                </a:solidFill>
              </a:rPr>
              <a:t>cCa</a:t>
            </a:r>
            <a:r>
              <a:rPr lang="it-IT" spc="-14">
                <a:solidFill>
                  <a:prstClr val="black"/>
                </a:solidFill>
              </a:rPr>
              <a:t>n</a:t>
            </a:r>
            <a:r>
              <a:rPr lang="it-IT" spc="-5">
                <a:solidFill>
                  <a:prstClr val="black"/>
                </a:solidFill>
              </a:rPr>
              <a:t>n</a:t>
            </a:r>
            <a:r>
              <a:rPr lang="it-IT">
                <a:solidFill>
                  <a:prstClr val="black"/>
                </a:solidFill>
              </a:rPr>
              <a:t>)</a:t>
            </a:r>
            <a:r>
              <a:rPr lang="it-IT" spc="9">
                <a:solidFill>
                  <a:prstClr val="black"/>
                </a:solidFill>
              </a:rPr>
              <a:t> </a:t>
            </a:r>
            <a:r>
              <a:rPr lang="it-IT">
                <a:solidFill>
                  <a:prstClr val="black"/>
                </a:solidFill>
              </a:rPr>
              <a:t>–</a:t>
            </a:r>
            <a:r>
              <a:rPr lang="it-IT" spc="-9">
                <a:solidFill>
                  <a:prstClr val="black"/>
                </a:solidFill>
              </a:rPr>
              <a:t> </a:t>
            </a:r>
            <a:r>
              <a:rPr lang="it-IT" spc="-32">
                <a:solidFill>
                  <a:prstClr val="black"/>
                </a:solidFill>
              </a:rPr>
              <a:t>p</a:t>
            </a:r>
            <a:r>
              <a:rPr lang="it-IT">
                <a:solidFill>
                  <a:prstClr val="black"/>
                </a:solidFill>
              </a:rPr>
              <a:t>.</a:t>
            </a:r>
            <a:r>
              <a:rPr lang="it-IT" spc="-5">
                <a:solidFill>
                  <a:prstClr val="black"/>
                </a:solidFill>
              </a:rPr>
              <a:t> </a:t>
            </a:r>
            <a:fld id="{81D60167-4931-47E6-BA6A-407CBD079E47}" type="slidenum">
              <a:rPr lang="it-IT" smtClean="0">
                <a:solidFill>
                  <a:prstClr val="black"/>
                </a:solidFill>
              </a:rPr>
              <a:pPr marL="65701">
                <a:lnSpc>
                  <a:spcPts val="871"/>
                </a:lnSpc>
              </a:pPr>
              <a:t>‹#›</a:t>
            </a:fld>
            <a:endParaRPr lang="it-IT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3898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71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65701">
              <a:lnSpc>
                <a:spcPts val="871"/>
              </a:lnSpc>
            </a:pPr>
            <a:r>
              <a:rPr lang="it-IT" spc="-5">
                <a:solidFill>
                  <a:prstClr val="black"/>
                </a:solidFill>
              </a:rPr>
              <a:t>L</a:t>
            </a:r>
            <a:r>
              <a:rPr lang="it-IT" spc="-14">
                <a:solidFill>
                  <a:prstClr val="black"/>
                </a:solidFill>
              </a:rPr>
              <a:t>o</a:t>
            </a:r>
            <a:r>
              <a:rPr lang="it-IT" spc="-5">
                <a:solidFill>
                  <a:prstClr val="black"/>
                </a:solidFill>
              </a:rPr>
              <a:t>g</a:t>
            </a:r>
            <a:r>
              <a:rPr lang="it-IT">
                <a:solidFill>
                  <a:prstClr val="black"/>
                </a:solidFill>
              </a:rPr>
              <a:t>ic</a:t>
            </a:r>
            <a:r>
              <a:rPr lang="it-IT" spc="14">
                <a:solidFill>
                  <a:prstClr val="black"/>
                </a:solidFill>
              </a:rPr>
              <a:t> </a:t>
            </a:r>
            <a:r>
              <a:rPr lang="it-IT">
                <a:solidFill>
                  <a:prstClr val="black"/>
                </a:solidFill>
              </a:rPr>
              <a:t>–</a:t>
            </a:r>
            <a:r>
              <a:rPr lang="it-IT" spc="-9">
                <a:solidFill>
                  <a:prstClr val="black"/>
                </a:solidFill>
              </a:rPr>
              <a:t> </a:t>
            </a:r>
            <a:r>
              <a:rPr lang="it-IT" spc="5">
                <a:solidFill>
                  <a:prstClr val="black"/>
                </a:solidFill>
              </a:rPr>
              <a:t>C</a:t>
            </a:r>
            <a:r>
              <a:rPr lang="it-IT" spc="-9">
                <a:solidFill>
                  <a:prstClr val="black"/>
                </a:solidFill>
              </a:rPr>
              <a:t>S</a:t>
            </a:r>
            <a:r>
              <a:rPr lang="it-IT">
                <a:solidFill>
                  <a:prstClr val="black"/>
                </a:solidFill>
              </a:rPr>
              <a:t>c</a:t>
            </a:r>
            <a:r>
              <a:rPr lang="it-IT" spc="-5">
                <a:solidFill>
                  <a:prstClr val="black"/>
                </a:solidFill>
              </a:rPr>
              <a:t> 24</a:t>
            </a:r>
            <a:r>
              <a:rPr lang="it-IT">
                <a:solidFill>
                  <a:prstClr val="black"/>
                </a:solidFill>
              </a:rPr>
              <a:t>5 </a:t>
            </a:r>
            <a:r>
              <a:rPr lang="it-IT" spc="-5">
                <a:solidFill>
                  <a:prstClr val="black"/>
                </a:solidFill>
              </a:rPr>
              <a:t>v</a:t>
            </a:r>
            <a:r>
              <a:rPr lang="it-IT" spc="-14">
                <a:solidFill>
                  <a:prstClr val="black"/>
                </a:solidFill>
              </a:rPr>
              <a:t>1</a:t>
            </a:r>
            <a:r>
              <a:rPr lang="it-IT">
                <a:solidFill>
                  <a:prstClr val="black"/>
                </a:solidFill>
              </a:rPr>
              <a:t>.1 </a:t>
            </a:r>
            <a:r>
              <a:rPr lang="it-IT" spc="5">
                <a:solidFill>
                  <a:prstClr val="black"/>
                </a:solidFill>
              </a:rPr>
              <a:t>(</a:t>
            </a:r>
            <a:r>
              <a:rPr lang="it-IT">
                <a:solidFill>
                  <a:prstClr val="black"/>
                </a:solidFill>
              </a:rPr>
              <a:t>M</a:t>
            </a:r>
            <a:r>
              <a:rPr lang="it-IT" spc="-5">
                <a:solidFill>
                  <a:prstClr val="black"/>
                </a:solidFill>
              </a:rPr>
              <a:t>cCa</a:t>
            </a:r>
            <a:r>
              <a:rPr lang="it-IT" spc="-14">
                <a:solidFill>
                  <a:prstClr val="black"/>
                </a:solidFill>
              </a:rPr>
              <a:t>n</a:t>
            </a:r>
            <a:r>
              <a:rPr lang="it-IT" spc="-5">
                <a:solidFill>
                  <a:prstClr val="black"/>
                </a:solidFill>
              </a:rPr>
              <a:t>n</a:t>
            </a:r>
            <a:r>
              <a:rPr lang="it-IT">
                <a:solidFill>
                  <a:prstClr val="black"/>
                </a:solidFill>
              </a:rPr>
              <a:t>)</a:t>
            </a:r>
            <a:r>
              <a:rPr lang="it-IT" spc="9">
                <a:solidFill>
                  <a:prstClr val="black"/>
                </a:solidFill>
              </a:rPr>
              <a:t> </a:t>
            </a:r>
            <a:r>
              <a:rPr lang="it-IT">
                <a:solidFill>
                  <a:prstClr val="black"/>
                </a:solidFill>
              </a:rPr>
              <a:t>–</a:t>
            </a:r>
            <a:r>
              <a:rPr lang="it-IT" spc="-9">
                <a:solidFill>
                  <a:prstClr val="black"/>
                </a:solidFill>
              </a:rPr>
              <a:t> </a:t>
            </a:r>
            <a:r>
              <a:rPr lang="it-IT" spc="-32">
                <a:solidFill>
                  <a:prstClr val="black"/>
                </a:solidFill>
              </a:rPr>
              <a:t>p</a:t>
            </a:r>
            <a:r>
              <a:rPr lang="it-IT">
                <a:solidFill>
                  <a:prstClr val="black"/>
                </a:solidFill>
              </a:rPr>
              <a:t>.</a:t>
            </a:r>
            <a:r>
              <a:rPr lang="it-IT" spc="-5">
                <a:solidFill>
                  <a:prstClr val="black"/>
                </a:solidFill>
              </a:rPr>
              <a:t> </a:t>
            </a:r>
            <a:fld id="{81D60167-4931-47E6-BA6A-407CBD079E47}" type="slidenum">
              <a:rPr lang="it-IT" smtClean="0">
                <a:solidFill>
                  <a:prstClr val="black"/>
                </a:solidFill>
              </a:rPr>
              <a:pPr marL="65701">
                <a:lnSpc>
                  <a:spcPts val="871"/>
                </a:lnSpc>
              </a:pPr>
              <a:t>‹#›</a:t>
            </a:fld>
            <a:endParaRPr lang="it-IT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082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B7B21-B5A8-4620-B290-3954355F1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A416-EAD4-4792-BF3F-02F0E64A8AF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616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B7B21-B5A8-4620-B290-3954355F1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A416-EAD4-4792-BF3F-02F0E64A8AF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5022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B7B21-B5A8-4620-B290-3954355F1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A416-EAD4-4792-BF3F-02F0E64A8AF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512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B7B21-B5A8-4620-B290-3954355F1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A416-EAD4-4792-BF3F-02F0E64A8AF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051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B7B21-B5A8-4620-B290-3954355F1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A416-EAD4-4792-BF3F-02F0E64A8AF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628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B7B21-B5A8-4620-B290-3954355F1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A416-EAD4-4792-BF3F-02F0E64A8AF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7830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B7B21-B5A8-4620-B290-3954355F1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A416-EAD4-4792-BF3F-02F0E64A8AF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07711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B7B21-B5A8-4620-B290-3954355F1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A416-EAD4-4792-BF3F-02F0E64A8AF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11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B7B21-B5A8-4620-B290-3954355F1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A416-EAD4-4792-BF3F-02F0E64A8AF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9936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B7B21-B5A8-4620-B290-3954355F1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A416-EAD4-4792-BF3F-02F0E64A8AF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6415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B7B21-B5A8-4620-B290-3954355F1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A416-EAD4-4792-BF3F-02F0E64A8AF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77151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AAAD4-F6C1-5A6B-C409-A90AADB81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032468-31C6-C455-2214-BA102DDC57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3CFFA-1E8A-F567-CA83-EE9102BE5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6B09F-9EAA-4D59-BBBC-51AA6376E935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B44D5-8F29-8FEE-8D16-B01BBACB3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A5BF0-1E9E-7946-03ED-07B7C3059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F67C6-10C1-489A-9A95-3BEBA28BD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3519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1498B-4B33-35A7-74F7-EB6865883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3467F-29B8-F111-1B4B-4457403A3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A9789-606D-962F-CF18-EF77E10D2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6B09F-9EAA-4D59-BBBC-51AA6376E935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FDD13-BA39-CBFB-B4CF-0E290B75A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9DAED-2479-9FD2-8103-53E43A651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F67C6-10C1-489A-9A95-3BEBA28BD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7070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00675-3C23-773E-971A-85D380EF1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74B3A-29FD-6AE0-5771-4D581A72E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2699E-5AD8-26A9-DB84-9FC8F1986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6B09F-9EAA-4D59-BBBC-51AA6376E935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D44FF-D3EF-75B0-17DF-B81FEE632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6FCC3-7B1C-A37E-E0CF-CB33DFBEB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F67C6-10C1-489A-9A95-3BEBA28BD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5469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356FB-8EF2-CCA6-E1F8-6FA4678FB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C400-7549-DFD8-C71A-DC7CDD940C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9DC15A-3688-34A0-129B-069A002A2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5272DA-9D90-C5A9-4824-F97F31346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6B09F-9EAA-4D59-BBBC-51AA6376E935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BE50BC-5185-F7CB-2BFA-01E0E2414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C87663-64A1-581B-658C-770D179F9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F67C6-10C1-489A-9A95-3BEBA28BD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8806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B313B-D370-181B-103D-1BC617938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814B1-A3A5-D7C2-0B20-70940EC93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1954AE-EFED-A699-527B-7C15D0EB9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3DE7BF-3836-6ED4-5209-E80602651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75F0D4-94A8-E020-EE53-8E92F119BD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80E7B9-12AB-30BB-05E8-4D103BA00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6B09F-9EAA-4D59-BBBC-51AA6376E935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F05FC4-FF05-1C0E-18DB-81AB8BE9A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238E8F-0A99-CD4B-0663-92DB70983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F67C6-10C1-489A-9A95-3BEBA28BD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1817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A727A-629C-5B16-206B-29D1126E3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24AD59-F6A3-E53C-BEE2-888D47A52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6B09F-9EAA-4D59-BBBC-51AA6376E935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BF2537-3050-8C98-ABEE-6E5798AB6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740E98-16AD-BB38-9BDE-6AA5FC8BA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F67C6-10C1-489A-9A95-3BEBA28BD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449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E5FA66-ED96-4DD6-A3D0-BDDF0FE49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6B09F-9EAA-4D59-BBBC-51AA6376E935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4A24B3-E9EB-7472-B986-2A0883847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E2289-388C-BE63-9F38-F98FBA3CF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F67C6-10C1-489A-9A95-3BEBA28BD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6106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F1BBD-5A5D-8336-C214-0A6287F24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27F0B-4A7F-B2FF-6051-FBD7BBF6C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CC177D-7DE5-65A2-7D71-80A5DD233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72D8F-0F78-4FB5-E2C2-A9913DB0D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6B09F-9EAA-4D59-BBBC-51AA6376E935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F85D9-DA26-04AD-B2A7-16661AB95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01A1A0-970E-EBEE-8D11-5887258C9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F67C6-10C1-489A-9A95-3BEBA28BD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9343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99BF8-A0BB-691B-6412-331E72FE8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7B77E9-CCB9-B20D-CAA5-06B2CB4FDB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0D46FC-F855-75E3-1B79-23F0214A30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1542D-AEAF-0B1B-4FAC-DF25D0AA2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6B09F-9EAA-4D59-BBBC-51AA6376E935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F0000-9081-AB5B-BAFC-4D5B552DA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DBA430-CA86-2D45-C159-AB109A867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F67C6-10C1-489A-9A95-3BEBA28BD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9493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D0CD7-729D-DBB5-6EEA-A3BD82553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160F98-BB9F-537B-E1FB-18FAD8A740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74563-96A6-720E-C758-5D55466FC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6B09F-9EAA-4D59-BBBC-51AA6376E935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8D195-D239-94B2-822D-F0CBDB66A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454F-0EB4-BEDF-846D-8C5C58FD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F67C6-10C1-489A-9A95-3BEBA28BD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7403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2F9336-F9D0-B35A-59A7-538C39C636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4B2311-376A-7F35-0097-AD62EE7BA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20B6D-6E67-1CC5-ABEE-6BAE41A04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6B09F-9EAA-4D59-BBBC-51AA6376E935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84905-A891-000F-C24A-D833D1380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8B27E-6195-209D-343A-808533D6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F67C6-10C1-489A-9A95-3BEBA28BD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9411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3BDBD22-44D3-2C4B-0596-8EA3345A66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Section 2.1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E831416-B735-BD1D-624B-F6BA282B83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Proof Techniques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EDF5181-CF95-6800-AD9A-890870B415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D93DD2-BAC3-4DF5-A632-EE4266D88E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29462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A220294-55A4-D698-1D78-4636BA6C8C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Section 2.1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EFF43E5-81E8-D4D0-7DF2-D355C85C0C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Proof Techniques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D1569A1-5CA3-95DC-57EE-F70C873B09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57BFF1-FA31-4825-94A7-9210BB80E1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185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9F9EC73-F789-8192-31E4-E499DAA3A1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Section 2.1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F09EA1D-7373-AE80-AC75-E6704867A4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Proof Techniques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BCDF914-F5DE-2D71-B5F6-3F3DC312FB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132838-6A43-49B7-AB50-175BFCB9D00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12784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838200"/>
            <a:ext cx="50800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838200"/>
            <a:ext cx="50800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B32014-02D4-9AAE-5B91-5A9DEC78B2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Section 2.1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84A6B2-3BBD-A321-35AF-20AF7E98F3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Proof Techniques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220AD0-B1AC-8B0F-8651-DCB809EAF8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89A62B-E9AF-4BC1-B2D6-DEAB8D144F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32592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AE3D3E9-CFB3-1D95-89ED-F8008F66FC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Section 2.1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6A9709D-D176-5C52-707F-F8606D6EA2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Proof Techniques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EA0E765-B1EB-02CC-19D1-9527CF55B4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0250C7-AD0A-4521-A2FE-50A5BABC49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88968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7F850CA-AC0B-441F-8841-71D6018BFA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Section 2.1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B65AF75-EC0E-C840-DE24-4D86F928C2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Proof Techniques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7BFA01D-6507-A538-B8C4-48659F9F3D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67FE4D-3554-4849-8AD6-0EA8A092F0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06684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8C9B0FC-EEF0-64BF-9F1F-4AE6DDF6AA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Section 2.1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A0F00C0-D9E7-55FD-1AF0-9E5AA63F9F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Proof Techniques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6637932-46C9-2375-0A9A-C43CF764BB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19DCAC-C573-4136-81FD-91DC184FBB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49698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91D01D-0CC5-384A-7093-C5F71C1A5C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Section 2.1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BE901D-589B-77D1-C9BF-A3BA0B561B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Proof Techniques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E78D0F-7E45-58FC-8399-CABEA07160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3A0052-BE30-4100-9EF3-1CBDF62590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603510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F29934-0BAC-1797-F3FF-BA9E9D514B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Section 2.1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3DCDB5-D58E-ECCA-BA98-328FA79F83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Proof Techniques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E8B1B5-6CFF-EEA1-D5D6-FC6C6F9779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22C91-C5CF-4E75-AF7A-FEF4F523A0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97406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878BB9F-E705-04A5-AD86-B5C0CAF494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Section 2.1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EF3D729-093A-32D5-80E6-D560C69586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Proof Techniques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1884583-13C9-BA64-B417-F4251DBABA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906D4B-0837-422A-AB04-A64BF4B759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772924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61400" y="152400"/>
            <a:ext cx="26162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52400"/>
            <a:ext cx="76454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EB2872A-F582-BF74-548E-4CDB6079BB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Section 2.1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D579F97-E15D-C5F1-896A-F541549DB7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Proof Techniques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F8EDCF-1DC5-B2BD-6426-62127B598E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C4A40A-EC66-4A75-8A06-60A08FD0DE0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2439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1" name="Google Shape;11;p2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972600" y="1763267"/>
            <a:ext cx="10250800" cy="22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972836" y="4230533"/>
            <a:ext cx="10250800" cy="7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355826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972600" y="1763267"/>
            <a:ext cx="10251200" cy="20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0895011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5" name="Google Shape;25;p4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687567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3" name="Google Shape;33;p5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200" cy="7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972433" y="2771833"/>
            <a:ext cx="5032400" cy="30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6191472" y="2771833"/>
            <a:ext cx="5032400" cy="30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5636338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2" name="Google Shape;42;p6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200" cy="7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715329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9" name="Google Shape;49;p7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73333" y="1758200"/>
            <a:ext cx="4401200" cy="18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961633" y="3708967"/>
            <a:ext cx="4401200" cy="21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8613070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1107190" y="5558840"/>
            <a:ext cx="994351" cy="61101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972600" y="1152400"/>
            <a:ext cx="9361600" cy="39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3970075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973333" y="1758200"/>
            <a:ext cx="4401200" cy="22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966600" y="4215367"/>
            <a:ext cx="4401200" cy="10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6898967" y="1803500"/>
            <a:ext cx="4499200" cy="40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4957876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966600" y="5830068"/>
            <a:ext cx="10263200" cy="6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3936767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1107190" y="5558840"/>
            <a:ext cx="994351" cy="61101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972600" y="978600"/>
            <a:ext cx="10251200" cy="16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972600" y="3030517"/>
            <a:ext cx="10251200" cy="21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76480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7474755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004D2-3FB8-CDF7-95C6-030AF8427A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B1B484-7B2A-2555-AAF5-12A457CC8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293BC-F2B2-CE13-0514-5A757A9E9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9752-14C9-4DE9-BC70-C3AF2540DE03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EE276-6066-AFEA-09AF-99764A2DA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78966-3AE5-050C-F764-5B4C39BB0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2896-E142-46D5-99C9-AEEC062E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3432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D9BE4-FA75-49C3-C74E-B9F84DCBB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89B33-6F9F-706C-CE21-033C4721E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BB609-9648-CC4D-C726-9151DFDE1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9752-14C9-4DE9-BC70-C3AF2540DE03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8757D-C533-5B80-949A-FD600F110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16BF2-4A48-0720-C59D-E7F1E2813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2896-E142-46D5-99C9-AEEC062E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13567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00174-EA95-C401-A92E-C4822E864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CA119-8546-E2B8-5F52-97DA9EC7D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70BC3-8C30-49CB-EB05-0823C72A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9752-14C9-4DE9-BC70-C3AF2540DE03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25EF3-324C-F3B8-6651-30E7C121B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090BC-1EE8-E074-C51E-FE40A706C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2896-E142-46D5-99C9-AEEC062E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106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770FC-1FEC-9F3C-2209-972FCAB20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9383E-BA1E-7821-5338-7DE7C9F12B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B922E-97A4-429C-8B69-EF79A8F45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EA964-AA0F-A8F7-C106-402052779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9752-14C9-4DE9-BC70-C3AF2540DE03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A44C6-3CA0-A17B-D51E-B6D184383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7B7BCC-EA82-E259-40EF-BBFF9B8EE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2896-E142-46D5-99C9-AEEC062E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62218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80EE9-C505-7758-6924-55EF230C6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A98CC-4C5A-16F7-4377-3F354FF3C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441856-632E-A0C5-FA97-CB8A432CA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D78BCA-564C-6827-525C-526F98A655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7B1E80-F985-2D75-98A6-2AC3E71BD3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58E78B-AFE5-2D52-76D5-2CBC6588B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9752-14C9-4DE9-BC70-C3AF2540DE03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04C02A-74B5-1564-37BC-3298695BB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BF28AC-A5C0-831C-13AA-321AECBED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2896-E142-46D5-99C9-AEEC062E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05671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9CC8F-8CCE-7358-8F1A-1FCD99ACB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23F68-9091-E795-209A-73533BD61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9752-14C9-4DE9-BC70-C3AF2540DE03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FABBFA-9C13-E644-EEF6-EFC3C2163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688686-2FE3-7A2F-9849-691A54524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2896-E142-46D5-99C9-AEEC062E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71739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B58670-D10B-AE50-21F3-864812C8E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9752-14C9-4DE9-BC70-C3AF2540DE03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97A736-9909-242C-EFA0-391822CEC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5DC2C-AAD1-4E4F-0FE4-2D1E3D9F4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2896-E142-46D5-99C9-AEEC062E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14463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8419D-8FFD-8DED-54ED-DFBA3B57A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FF203-2E8F-F719-DE21-1CF4CCF84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681ECF-5363-A48A-0C79-7B97D08B4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F1103-C530-601C-9AE6-B7B8D5761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9752-14C9-4DE9-BC70-C3AF2540DE03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67776A-C1AB-EB27-10D4-1FED44C11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FD7776-5F6D-A020-D23D-6F7DED1E1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2896-E142-46D5-99C9-AEEC062E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6154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575A2-3949-3C99-5F76-189C53E73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5DE17F-6F48-FF57-1D8D-457056BCB6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BE1B4-B332-24DA-2AF0-F5FE75CB0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B2DD6D-EA06-C31F-C682-8020CBD40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9752-14C9-4DE9-BC70-C3AF2540DE03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6F2EB-1D8B-5D06-8658-AC6E045E7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CCE4B-85D5-B47D-01B7-DC0E12ABF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2896-E142-46D5-99C9-AEEC062E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90394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3D3D8-55CB-05B0-5957-F662E5120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4F0F0A-3E9E-3963-0BA1-E9403FA39A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97417-3D04-498E-C736-F9B0FD653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9752-14C9-4DE9-BC70-C3AF2540DE03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D6689-042E-3A6C-AC99-92F4FA6C1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39DE6-FA29-A009-0D49-E3425291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2896-E142-46D5-99C9-AEEC062E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1789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A92522-95F7-24DB-4B63-A73782D19C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F031A9-B7F2-EA84-05F6-2ED3E7184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84E57-D999-1EC6-9567-42588B704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E9752-14C9-4DE9-BC70-C3AF2540DE03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21FDB-2C8D-0CF5-BB0D-612E5A920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C9EAD-1E48-CC75-8F63-3E88DAEE5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42896-E142-46D5-99C9-AEEC062E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15874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97659" y="895573"/>
            <a:ext cx="11194341" cy="0"/>
          </a:xfrm>
          <a:custGeom>
            <a:avLst/>
            <a:gdLst/>
            <a:ahLst/>
            <a:cxnLst/>
            <a:rect l="l" t="t" r="r" b="b"/>
            <a:pathLst>
              <a:path w="9818370">
                <a:moveTo>
                  <a:pt x="0" y="0"/>
                </a:moveTo>
                <a:lnTo>
                  <a:pt x="9818369" y="0"/>
                </a:lnTo>
              </a:path>
            </a:pathLst>
          </a:custGeom>
          <a:ln w="20845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826796" y="909405"/>
            <a:ext cx="11365203" cy="0"/>
          </a:xfrm>
          <a:custGeom>
            <a:avLst/>
            <a:gdLst/>
            <a:ahLst/>
            <a:cxnLst/>
            <a:rect l="l" t="t" r="r" b="b"/>
            <a:pathLst>
              <a:path w="9968230">
                <a:moveTo>
                  <a:pt x="0" y="0"/>
                </a:moveTo>
                <a:lnTo>
                  <a:pt x="9968230" y="0"/>
                </a:lnTo>
              </a:path>
            </a:pathLst>
          </a:custGeom>
          <a:ln w="7547">
            <a:solidFill>
              <a:srgbClr val="CC0033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-14478" y="418395"/>
            <a:ext cx="12220958" cy="4921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77" b="0" i="0" u="heavy">
                <a:solidFill>
                  <a:srgbClr val="0033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1" y="3840480"/>
            <a:ext cx="853439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1/19/2024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71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65701" marR="0" lvl="0" indent="0" algn="l" defTabSz="914400" rtl="0" eaLnBrk="1" fontAlgn="auto" latinLnBrk="0" hangingPunct="1">
              <a:lnSpc>
                <a:spcPts val="87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771" b="0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</a:t>
            </a:r>
            <a:r>
              <a:rPr kumimoji="0" lang="it-IT" sz="771" b="0" i="0" u="none" strike="noStrike" kern="1200" cap="none" spc="-14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</a:t>
            </a:r>
            <a:r>
              <a:rPr kumimoji="0" lang="it-IT" sz="771" b="0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g</a:t>
            </a:r>
            <a:r>
              <a:rPr kumimoji="0" lang="it-IT" sz="771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ic</a:t>
            </a:r>
            <a:r>
              <a:rPr kumimoji="0" lang="it-IT" sz="771" b="0" i="0" u="none" strike="noStrike" kern="1200" cap="none" spc="14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it-IT" sz="771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–</a:t>
            </a:r>
            <a:r>
              <a:rPr kumimoji="0" lang="it-IT" sz="771" b="0" i="0" u="none" strike="noStrike" kern="1200" cap="none" spc="-9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it-IT" sz="771" b="0" i="0" u="none" strike="noStrike" kern="1200" cap="none" spc="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</a:t>
            </a:r>
            <a:r>
              <a:rPr kumimoji="0" lang="it-IT" sz="771" b="0" i="0" u="none" strike="noStrike" kern="1200" cap="none" spc="-9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</a:t>
            </a:r>
            <a:r>
              <a:rPr kumimoji="0" lang="it-IT" sz="771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</a:t>
            </a:r>
            <a:r>
              <a:rPr kumimoji="0" lang="it-IT" sz="771" b="0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24</a:t>
            </a:r>
            <a:r>
              <a:rPr kumimoji="0" lang="it-IT" sz="771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5 </a:t>
            </a:r>
            <a:r>
              <a:rPr kumimoji="0" lang="it-IT" sz="771" b="0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</a:t>
            </a:r>
            <a:r>
              <a:rPr kumimoji="0" lang="it-IT" sz="771" b="0" i="0" u="none" strike="noStrike" kern="1200" cap="none" spc="-14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</a:t>
            </a:r>
            <a:r>
              <a:rPr kumimoji="0" lang="it-IT" sz="771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.1 </a:t>
            </a:r>
            <a:r>
              <a:rPr kumimoji="0" lang="it-IT" sz="771" b="0" i="0" u="none" strike="noStrike" kern="1200" cap="none" spc="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</a:t>
            </a:r>
            <a:r>
              <a:rPr kumimoji="0" lang="it-IT" sz="771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</a:t>
            </a:r>
            <a:r>
              <a:rPr kumimoji="0" lang="it-IT" sz="771" b="0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cCa</a:t>
            </a:r>
            <a:r>
              <a:rPr kumimoji="0" lang="it-IT" sz="771" b="0" i="0" u="none" strike="noStrike" kern="1200" cap="none" spc="-14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</a:t>
            </a:r>
            <a:r>
              <a:rPr kumimoji="0" lang="it-IT" sz="771" b="0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</a:t>
            </a:r>
            <a:r>
              <a:rPr kumimoji="0" lang="it-IT" sz="771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)</a:t>
            </a:r>
            <a:r>
              <a:rPr kumimoji="0" lang="it-IT" sz="771" b="0" i="0" u="none" strike="noStrike" kern="1200" cap="none" spc="9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it-IT" sz="771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–</a:t>
            </a:r>
            <a:r>
              <a:rPr kumimoji="0" lang="it-IT" sz="771" b="0" i="0" u="none" strike="noStrike" kern="1200" cap="none" spc="-9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it-IT" sz="771" b="0" i="0" u="none" strike="noStrike" kern="1200" cap="none" spc="-32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</a:t>
            </a:r>
            <a:r>
              <a:rPr kumimoji="0" lang="it-IT" sz="771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  <a:r>
              <a:rPr kumimoji="0" lang="it-IT" sz="771" b="0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fld id="{81D60167-4931-47E6-BA6A-407CBD079E47}" type="slidenum">
              <a:rPr kumimoji="0" lang="it-IT" sz="771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65701" marR="0" lvl="0" indent="0" algn="l" defTabSz="914400" rtl="0" eaLnBrk="1" fontAlgn="auto" latinLnBrk="0" hangingPunct="1">
                <a:lnSpc>
                  <a:spcPts val="871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it-IT" sz="771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499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97659" y="895573"/>
            <a:ext cx="11194341" cy="0"/>
          </a:xfrm>
          <a:custGeom>
            <a:avLst/>
            <a:gdLst/>
            <a:ahLst/>
            <a:cxnLst/>
            <a:rect l="l" t="t" r="r" b="b"/>
            <a:pathLst>
              <a:path w="9818370">
                <a:moveTo>
                  <a:pt x="0" y="0"/>
                </a:moveTo>
                <a:lnTo>
                  <a:pt x="9818369" y="0"/>
                </a:lnTo>
              </a:path>
            </a:pathLst>
          </a:custGeom>
          <a:ln w="20845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 sz="1634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14478" y="418395"/>
            <a:ext cx="12220958" cy="538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 u="heavy">
                <a:solidFill>
                  <a:srgbClr val="0033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38024" y="1142232"/>
            <a:ext cx="9715952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377940"/>
            <a:ext cx="39014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406083" y="6621858"/>
            <a:ext cx="2187174" cy="1154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71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65701">
              <a:lnSpc>
                <a:spcPts val="871"/>
              </a:lnSpc>
            </a:pPr>
            <a:r>
              <a:rPr lang="it-IT" spc="-5">
                <a:solidFill>
                  <a:prstClr val="black"/>
                </a:solidFill>
              </a:rPr>
              <a:t>L</a:t>
            </a:r>
            <a:r>
              <a:rPr lang="it-IT" spc="-14">
                <a:solidFill>
                  <a:prstClr val="black"/>
                </a:solidFill>
              </a:rPr>
              <a:t>o</a:t>
            </a:r>
            <a:r>
              <a:rPr lang="it-IT" spc="-5">
                <a:solidFill>
                  <a:prstClr val="black"/>
                </a:solidFill>
              </a:rPr>
              <a:t>g</a:t>
            </a:r>
            <a:r>
              <a:rPr lang="it-IT">
                <a:solidFill>
                  <a:prstClr val="black"/>
                </a:solidFill>
              </a:rPr>
              <a:t>ic</a:t>
            </a:r>
            <a:r>
              <a:rPr lang="it-IT" spc="14">
                <a:solidFill>
                  <a:prstClr val="black"/>
                </a:solidFill>
              </a:rPr>
              <a:t> </a:t>
            </a:r>
            <a:r>
              <a:rPr lang="it-IT">
                <a:solidFill>
                  <a:prstClr val="black"/>
                </a:solidFill>
              </a:rPr>
              <a:t>–</a:t>
            </a:r>
            <a:r>
              <a:rPr lang="it-IT" spc="-9">
                <a:solidFill>
                  <a:prstClr val="black"/>
                </a:solidFill>
              </a:rPr>
              <a:t> </a:t>
            </a:r>
            <a:r>
              <a:rPr lang="it-IT" spc="5">
                <a:solidFill>
                  <a:prstClr val="black"/>
                </a:solidFill>
              </a:rPr>
              <a:t>C</a:t>
            </a:r>
            <a:r>
              <a:rPr lang="it-IT" spc="-9">
                <a:solidFill>
                  <a:prstClr val="black"/>
                </a:solidFill>
              </a:rPr>
              <a:t>S</a:t>
            </a:r>
            <a:r>
              <a:rPr lang="it-IT">
                <a:solidFill>
                  <a:prstClr val="black"/>
                </a:solidFill>
              </a:rPr>
              <a:t>c</a:t>
            </a:r>
            <a:r>
              <a:rPr lang="it-IT" spc="-5">
                <a:solidFill>
                  <a:prstClr val="black"/>
                </a:solidFill>
              </a:rPr>
              <a:t> 24</a:t>
            </a:r>
            <a:r>
              <a:rPr lang="it-IT">
                <a:solidFill>
                  <a:prstClr val="black"/>
                </a:solidFill>
              </a:rPr>
              <a:t>5 </a:t>
            </a:r>
            <a:r>
              <a:rPr lang="it-IT" spc="-5">
                <a:solidFill>
                  <a:prstClr val="black"/>
                </a:solidFill>
              </a:rPr>
              <a:t>v</a:t>
            </a:r>
            <a:r>
              <a:rPr lang="it-IT" spc="-14">
                <a:solidFill>
                  <a:prstClr val="black"/>
                </a:solidFill>
              </a:rPr>
              <a:t>1</a:t>
            </a:r>
            <a:r>
              <a:rPr lang="it-IT">
                <a:solidFill>
                  <a:prstClr val="black"/>
                </a:solidFill>
              </a:rPr>
              <a:t>.1 </a:t>
            </a:r>
            <a:r>
              <a:rPr lang="it-IT" spc="5">
                <a:solidFill>
                  <a:prstClr val="black"/>
                </a:solidFill>
              </a:rPr>
              <a:t>(</a:t>
            </a:r>
            <a:r>
              <a:rPr lang="it-IT">
                <a:solidFill>
                  <a:prstClr val="black"/>
                </a:solidFill>
              </a:rPr>
              <a:t>M</a:t>
            </a:r>
            <a:r>
              <a:rPr lang="it-IT" spc="-5">
                <a:solidFill>
                  <a:prstClr val="black"/>
                </a:solidFill>
              </a:rPr>
              <a:t>cCa</a:t>
            </a:r>
            <a:r>
              <a:rPr lang="it-IT" spc="-14">
                <a:solidFill>
                  <a:prstClr val="black"/>
                </a:solidFill>
              </a:rPr>
              <a:t>n</a:t>
            </a:r>
            <a:r>
              <a:rPr lang="it-IT" spc="-5">
                <a:solidFill>
                  <a:prstClr val="black"/>
                </a:solidFill>
              </a:rPr>
              <a:t>n</a:t>
            </a:r>
            <a:r>
              <a:rPr lang="it-IT">
                <a:solidFill>
                  <a:prstClr val="black"/>
                </a:solidFill>
              </a:rPr>
              <a:t>)</a:t>
            </a:r>
            <a:r>
              <a:rPr lang="it-IT" spc="9">
                <a:solidFill>
                  <a:prstClr val="black"/>
                </a:solidFill>
              </a:rPr>
              <a:t> </a:t>
            </a:r>
            <a:r>
              <a:rPr lang="it-IT">
                <a:solidFill>
                  <a:prstClr val="black"/>
                </a:solidFill>
              </a:rPr>
              <a:t>–</a:t>
            </a:r>
            <a:r>
              <a:rPr lang="it-IT" spc="-9">
                <a:solidFill>
                  <a:prstClr val="black"/>
                </a:solidFill>
              </a:rPr>
              <a:t> </a:t>
            </a:r>
            <a:r>
              <a:rPr lang="it-IT" spc="-32">
                <a:solidFill>
                  <a:prstClr val="black"/>
                </a:solidFill>
              </a:rPr>
              <a:t>p</a:t>
            </a:r>
            <a:r>
              <a:rPr lang="it-IT">
                <a:solidFill>
                  <a:prstClr val="black"/>
                </a:solidFill>
              </a:rPr>
              <a:t>.</a:t>
            </a:r>
            <a:r>
              <a:rPr lang="it-IT" spc="-5">
                <a:solidFill>
                  <a:prstClr val="black"/>
                </a:solidFill>
              </a:rPr>
              <a:t> </a:t>
            </a:r>
            <a:fld id="{81D60167-4931-47E6-BA6A-407CBD079E47}" type="slidenum">
              <a:rPr lang="it-IT" smtClean="0">
                <a:solidFill>
                  <a:prstClr val="black"/>
                </a:solidFill>
              </a:rPr>
              <a:pPr marL="65701">
                <a:lnSpc>
                  <a:spcPts val="871"/>
                </a:lnSpc>
              </a:pPr>
              <a:t>‹#›</a:t>
            </a:fld>
            <a:endParaRPr lang="it-IT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0191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14955">
        <a:defRPr>
          <a:latin typeface="+mn-lt"/>
          <a:ea typeface="+mn-ea"/>
          <a:cs typeface="+mn-cs"/>
        </a:defRPr>
      </a:lvl2pPr>
      <a:lvl3pPr marL="829909">
        <a:defRPr>
          <a:latin typeface="+mn-lt"/>
          <a:ea typeface="+mn-ea"/>
          <a:cs typeface="+mn-cs"/>
        </a:defRPr>
      </a:lvl3pPr>
      <a:lvl4pPr marL="1244864">
        <a:defRPr>
          <a:latin typeface="+mn-lt"/>
          <a:ea typeface="+mn-ea"/>
          <a:cs typeface="+mn-cs"/>
        </a:defRPr>
      </a:lvl4pPr>
      <a:lvl5pPr marL="1659819">
        <a:defRPr>
          <a:latin typeface="+mn-lt"/>
          <a:ea typeface="+mn-ea"/>
          <a:cs typeface="+mn-cs"/>
        </a:defRPr>
      </a:lvl5pPr>
      <a:lvl6pPr marL="2074774">
        <a:defRPr>
          <a:latin typeface="+mn-lt"/>
          <a:ea typeface="+mn-ea"/>
          <a:cs typeface="+mn-cs"/>
        </a:defRPr>
      </a:lvl6pPr>
      <a:lvl7pPr marL="2489728">
        <a:defRPr>
          <a:latin typeface="+mn-lt"/>
          <a:ea typeface="+mn-ea"/>
          <a:cs typeface="+mn-cs"/>
        </a:defRPr>
      </a:lvl7pPr>
      <a:lvl8pPr marL="2904683">
        <a:defRPr>
          <a:latin typeface="+mn-lt"/>
          <a:ea typeface="+mn-ea"/>
          <a:cs typeface="+mn-cs"/>
        </a:defRPr>
      </a:lvl8pPr>
      <a:lvl9pPr marL="331963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14955">
        <a:defRPr>
          <a:latin typeface="+mn-lt"/>
          <a:ea typeface="+mn-ea"/>
          <a:cs typeface="+mn-cs"/>
        </a:defRPr>
      </a:lvl2pPr>
      <a:lvl3pPr marL="829909">
        <a:defRPr>
          <a:latin typeface="+mn-lt"/>
          <a:ea typeface="+mn-ea"/>
          <a:cs typeface="+mn-cs"/>
        </a:defRPr>
      </a:lvl3pPr>
      <a:lvl4pPr marL="1244864">
        <a:defRPr>
          <a:latin typeface="+mn-lt"/>
          <a:ea typeface="+mn-ea"/>
          <a:cs typeface="+mn-cs"/>
        </a:defRPr>
      </a:lvl4pPr>
      <a:lvl5pPr marL="1659819">
        <a:defRPr>
          <a:latin typeface="+mn-lt"/>
          <a:ea typeface="+mn-ea"/>
          <a:cs typeface="+mn-cs"/>
        </a:defRPr>
      </a:lvl5pPr>
      <a:lvl6pPr marL="2074774">
        <a:defRPr>
          <a:latin typeface="+mn-lt"/>
          <a:ea typeface="+mn-ea"/>
          <a:cs typeface="+mn-cs"/>
        </a:defRPr>
      </a:lvl6pPr>
      <a:lvl7pPr marL="2489728">
        <a:defRPr>
          <a:latin typeface="+mn-lt"/>
          <a:ea typeface="+mn-ea"/>
          <a:cs typeface="+mn-cs"/>
        </a:defRPr>
      </a:lvl7pPr>
      <a:lvl8pPr marL="2904683">
        <a:defRPr>
          <a:latin typeface="+mn-lt"/>
          <a:ea typeface="+mn-ea"/>
          <a:cs typeface="+mn-cs"/>
        </a:defRPr>
      </a:lvl8pPr>
      <a:lvl9pPr marL="3319638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4B7B21-B5A8-4620-B290-3954355F1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1/19/2024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5A416-EAD4-4792-BF3F-02F0E64A8AF7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4318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B1108E-F35A-75B5-1721-65513CED1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10ACA-E3FC-3C9E-7D86-A0A59378F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D6C9D-5283-FCBB-59A5-72D32609E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46B09F-9EAA-4D59-BBBC-51AA6376E935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827CD-6E99-42CA-1647-796D8C02BB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3A6CE-68B6-0F7A-AB7B-B4B2BDDB2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0F67C6-10C1-489A-9A95-3BEBA28BD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004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16A7242-8A28-98BB-AA88-12B03D5207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12800" y="152400"/>
            <a:ext cx="10363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E433624-1EDE-A51C-2036-0F7D5AE066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838200"/>
            <a:ext cx="10363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0EA42A5-0948-A011-6D9D-D2C9DFE759D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08000" y="66294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i="1">
                <a:solidFill>
                  <a:srgbClr val="00B5D6"/>
                </a:solidFill>
                <a:latin typeface="Syntax Bold" charset="0"/>
                <a:ea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Section 2.1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ECA30A0-8050-D39A-A55B-232C02A0A1F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64000" y="6629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i="1">
                <a:solidFill>
                  <a:srgbClr val="00B5D6"/>
                </a:solidFill>
                <a:latin typeface="Syntax Bold" charset="0"/>
                <a:ea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Proof Techniques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A478C7A-87ED-25ED-F752-72E281059EA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668000" y="66294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i="1">
                <a:solidFill>
                  <a:srgbClr val="00B5D6"/>
                </a:solidFill>
                <a:latin typeface="Syntax Bold" pitchFamily="73" charset="0"/>
              </a:defRPr>
            </a:lvl1pPr>
          </a:lstStyle>
          <a:p>
            <a:pPr>
              <a:defRPr/>
            </a:pPr>
            <a:fld id="{D1DE17D1-AEF4-4527-B028-E53499A4E92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1" name="Group 12">
            <a:extLst>
              <a:ext uri="{FF2B5EF4-FFF2-40B4-BE49-F238E27FC236}">
                <a16:creationId xmlns:a16="http://schemas.microsoft.com/office/drawing/2014/main" id="{4247ADE9-59A9-D74A-7D53-575ACEF8D37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508000" y="6553200"/>
            <a:ext cx="11176000" cy="228600"/>
            <a:chOff x="288" y="3792"/>
            <a:chExt cx="5280" cy="192"/>
          </a:xfrm>
        </p:grpSpPr>
        <p:sp>
          <p:nvSpPr>
            <p:cNvPr id="1035" name="Line 7">
              <a:extLst>
                <a:ext uri="{FF2B5EF4-FFF2-40B4-BE49-F238E27FC236}">
                  <a16:creationId xmlns:a16="http://schemas.microsoft.com/office/drawing/2014/main" id="{5213A932-CDAD-0195-76DC-C77EDA6A3E3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88" y="3792"/>
              <a:ext cx="5280" cy="0"/>
            </a:xfrm>
            <a:prstGeom prst="line">
              <a:avLst/>
            </a:prstGeom>
            <a:noFill/>
            <a:ln w="28575">
              <a:solidFill>
                <a:srgbClr val="007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036" name="Line 9">
              <a:extLst>
                <a:ext uri="{FF2B5EF4-FFF2-40B4-BE49-F238E27FC236}">
                  <a16:creationId xmlns:a16="http://schemas.microsoft.com/office/drawing/2014/main" id="{77D64ADE-5E09-7745-2126-A8B1AD712CCB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68" y="3792"/>
              <a:ext cx="0" cy="192"/>
            </a:xfrm>
            <a:prstGeom prst="line">
              <a:avLst/>
            </a:prstGeom>
            <a:noFill/>
            <a:ln w="28575">
              <a:solidFill>
                <a:srgbClr val="007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</p:grpSp>
      <p:grpSp>
        <p:nvGrpSpPr>
          <p:cNvPr id="1032" name="Group 13">
            <a:extLst>
              <a:ext uri="{FF2B5EF4-FFF2-40B4-BE49-F238E27FC236}">
                <a16:creationId xmlns:a16="http://schemas.microsoft.com/office/drawing/2014/main" id="{8E9524F8-9EFD-1214-BA43-DED114ACAED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508000" y="304800"/>
            <a:ext cx="11176000" cy="381000"/>
            <a:chOff x="288" y="1248"/>
            <a:chExt cx="5280" cy="240"/>
          </a:xfrm>
        </p:grpSpPr>
        <p:sp>
          <p:nvSpPr>
            <p:cNvPr id="1033" name="Line 8">
              <a:extLst>
                <a:ext uri="{FF2B5EF4-FFF2-40B4-BE49-F238E27FC236}">
                  <a16:creationId xmlns:a16="http://schemas.microsoft.com/office/drawing/2014/main" id="{60C67801-E9A7-7022-7A35-D44BD4E3E09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88" y="1440"/>
              <a:ext cx="5280" cy="0"/>
            </a:xfrm>
            <a:prstGeom prst="line">
              <a:avLst/>
            </a:prstGeom>
            <a:noFill/>
            <a:ln w="57150">
              <a:solidFill>
                <a:srgbClr val="007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034" name="Line 10">
              <a:extLst>
                <a:ext uri="{FF2B5EF4-FFF2-40B4-BE49-F238E27FC236}">
                  <a16:creationId xmlns:a16="http://schemas.microsoft.com/office/drawing/2014/main" id="{1FF6E6EC-E72A-D0B7-620D-FBCA61EA6DC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84" y="1248"/>
              <a:ext cx="0" cy="240"/>
            </a:xfrm>
            <a:prstGeom prst="line">
              <a:avLst/>
            </a:prstGeom>
            <a:noFill/>
            <a:ln w="57150">
              <a:solidFill>
                <a:srgbClr val="007AA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85284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>
          <a:solidFill>
            <a:srgbClr val="007AA5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rgbClr val="007AA5"/>
          </a:solidFill>
          <a:latin typeface="Syntax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rgbClr val="007AA5"/>
          </a:solidFill>
          <a:latin typeface="Syntax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rgbClr val="007AA5"/>
          </a:solidFill>
          <a:latin typeface="Syntax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rgbClr val="007AA5"/>
          </a:solidFill>
          <a:latin typeface="Syntax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rgbClr val="007AA5"/>
          </a:solidFill>
          <a:latin typeface="Syntax" charset="0"/>
          <a:ea typeface="ＭＳ Ｐゴシック" charset="0"/>
          <a:cs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rgbClr val="007AA5"/>
          </a:solidFill>
          <a:latin typeface="Syntax" charset="0"/>
          <a:ea typeface="ＭＳ Ｐゴシック" charset="0"/>
          <a:cs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rgbClr val="007AA5"/>
          </a:solidFill>
          <a:latin typeface="Syntax" charset="0"/>
          <a:ea typeface="ＭＳ Ｐゴシック" charset="0"/>
          <a:cs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rgbClr val="007AA5"/>
          </a:solidFill>
          <a:latin typeface="Syntax" charset="0"/>
          <a:ea typeface="ＭＳ Ｐゴシック" charset="0"/>
          <a:cs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7AA5"/>
        </a:buClr>
        <a:buSzPct val="55000"/>
        <a:buFont typeface="Zapf Dingbats" pitchFamily="1" charset="2"/>
        <a:buChar char="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B5D6"/>
        </a:buClr>
        <a:buSzPct val="40000"/>
        <a:buFont typeface="Zapf Dingbats" pitchFamily="1" charset="2"/>
        <a:buChar char="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8000"/>
        </a:buClr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33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0503447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E66A8F-C5E5-B020-5502-995C8E8A3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79188-0A24-1DB9-96D2-DD19424B9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ACBA1-082A-656D-F2EA-94CE088126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EE9752-14C9-4DE9-BC70-C3AF2540DE03}" type="datetimeFigureOut">
              <a:rPr lang="en-US" smtClean="0"/>
              <a:t>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56D15-1622-AFA8-29F9-862039A4D9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F7EF8-3363-8B81-ECEE-7327ED327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42896-E142-46D5-99C9-AEEC062E1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39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6B5E6-CE3B-A68D-5FA9-233252D45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33431"/>
            <a:ext cx="12220958" cy="440057"/>
          </a:xfrm>
        </p:spPr>
        <p:txBody>
          <a:bodyPr/>
          <a:lstStyle/>
          <a:p>
            <a:r>
              <a:rPr lang="en-US" u="none" dirty="0"/>
              <a:t>         Announcements – Jan 19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1764DE-55A5-A82F-A886-871213CB3305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930443" y="961293"/>
            <a:ext cx="10844462" cy="2467708"/>
          </a:xfrm>
        </p:spPr>
        <p:txBody>
          <a:bodyPr/>
          <a:lstStyle/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First Homework will come out today at be due at class time next Friday. 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TA offices hours and SI sessions TBA. Office hours will start next week.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Quiz 2 trivia – The correct answer was the IBM PC. IBM was late to the pc game. The IBM PC came out in 1981.  19% got the question correct. The most common answer was the Commodore PET.</a:t>
            </a:r>
          </a:p>
          <a:p>
            <a:pPr marL="0" indent="0">
              <a:spcAft>
                <a:spcPts val="1200"/>
              </a:spcAft>
              <a:buNone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155884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A5D1A-BF68-661C-8FEE-5812BDED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803"/>
          </a:xfrm>
        </p:spPr>
        <p:txBody>
          <a:bodyPr/>
          <a:lstStyle/>
          <a:p>
            <a:r>
              <a:rPr lang="en-US" b="1" u="sng" dirty="0"/>
              <a:t>1.2 Applications of Propositional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22102-0A05-ADBA-CE16-183B2911C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169"/>
            <a:ext cx="10515600" cy="18548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Translating English Statements</a:t>
            </a:r>
          </a:p>
          <a:p>
            <a:pPr marL="0" indent="0">
              <a:buNone/>
            </a:pPr>
            <a:r>
              <a:rPr lang="en-US" sz="3600" dirty="0">
                <a:solidFill>
                  <a:schemeClr val="accent1"/>
                </a:solidFill>
              </a:rPr>
              <a:t>You can take 144 only if you have completed 110 unless you have advisor approval.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CA8962-A0E8-EA9C-D42C-9F9CD1D3994D}"/>
              </a:ext>
            </a:extLst>
          </p:cNvPr>
          <p:cNvSpPr txBox="1"/>
          <p:nvPr/>
        </p:nvSpPr>
        <p:spPr>
          <a:xfrm>
            <a:off x="705854" y="3818021"/>
            <a:ext cx="407469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3200" dirty="0"/>
              <a:t>First, assign variables:</a:t>
            </a:r>
          </a:p>
          <a:p>
            <a:pPr>
              <a:spcAft>
                <a:spcPts val="600"/>
              </a:spcAft>
            </a:pPr>
            <a:r>
              <a:rPr lang="en-US" sz="3200" dirty="0"/>
              <a:t>t: take 144</a:t>
            </a:r>
          </a:p>
          <a:p>
            <a:pPr>
              <a:spcAft>
                <a:spcPts val="600"/>
              </a:spcAft>
            </a:pPr>
            <a:r>
              <a:rPr lang="en-US" sz="3200" dirty="0"/>
              <a:t>c: completed 110</a:t>
            </a:r>
          </a:p>
          <a:p>
            <a:pPr>
              <a:spcAft>
                <a:spcPts val="600"/>
              </a:spcAft>
            </a:pPr>
            <a:r>
              <a:rPr lang="en-US" sz="3200" dirty="0"/>
              <a:t>a: instructor approval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FB2FB0-2E35-8182-BE15-B70AF4EAACFA}"/>
              </a:ext>
            </a:extLst>
          </p:cNvPr>
          <p:cNvSpPr txBox="1"/>
          <p:nvPr/>
        </p:nvSpPr>
        <p:spPr>
          <a:xfrm>
            <a:off x="5919539" y="4106779"/>
            <a:ext cx="26309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Does this work?</a:t>
            </a:r>
          </a:p>
          <a:p>
            <a:r>
              <a:rPr lang="en-US" sz="2800" dirty="0">
                <a:solidFill>
                  <a:srgbClr val="FF0000"/>
                </a:solidFill>
              </a:rPr>
              <a:t>c v a → 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C7BFB1-9632-0F54-AA9E-78CEB561A3E4}"/>
              </a:ext>
            </a:extLst>
          </p:cNvPr>
          <p:cNvSpPr txBox="1"/>
          <p:nvPr/>
        </p:nvSpPr>
        <p:spPr>
          <a:xfrm>
            <a:off x="5566610" y="5177515"/>
            <a:ext cx="62885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NO! This is says you can take the class if you’ve met the conditions, but not that the conditions are required.</a:t>
            </a:r>
          </a:p>
        </p:txBody>
      </p:sp>
    </p:spTree>
    <p:extLst>
      <p:ext uri="{BB962C8B-B14F-4D97-AF65-F5344CB8AC3E}">
        <p14:creationId xmlns:p14="http://schemas.microsoft.com/office/powerpoint/2010/main" val="1804299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A5D1A-BF68-661C-8FEE-5812BDED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803"/>
          </a:xfrm>
        </p:spPr>
        <p:txBody>
          <a:bodyPr/>
          <a:lstStyle/>
          <a:p>
            <a:r>
              <a:rPr lang="en-US" b="1" u="sng" dirty="0"/>
              <a:t>1.2 Applications of Propositional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22102-0A05-ADBA-CE16-183B2911C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169"/>
            <a:ext cx="10515600" cy="18548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Translating English Statements</a:t>
            </a:r>
          </a:p>
          <a:p>
            <a:pPr marL="0" indent="0">
              <a:buNone/>
            </a:pPr>
            <a:r>
              <a:rPr lang="en-US" sz="3600" dirty="0">
                <a:solidFill>
                  <a:schemeClr val="accent1"/>
                </a:solidFill>
              </a:rPr>
              <a:t>You can take 144 only if you have completed 110 unless you have advisor approval.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CA8962-A0E8-EA9C-D42C-9F9CD1D3994D}"/>
              </a:ext>
            </a:extLst>
          </p:cNvPr>
          <p:cNvSpPr txBox="1"/>
          <p:nvPr/>
        </p:nvSpPr>
        <p:spPr>
          <a:xfrm>
            <a:off x="705854" y="3818021"/>
            <a:ext cx="407469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3200" dirty="0"/>
              <a:t>First, assign variables:</a:t>
            </a:r>
          </a:p>
          <a:p>
            <a:pPr>
              <a:spcAft>
                <a:spcPts val="600"/>
              </a:spcAft>
            </a:pPr>
            <a:r>
              <a:rPr lang="en-US" sz="3200" dirty="0"/>
              <a:t>t: take 144</a:t>
            </a:r>
          </a:p>
          <a:p>
            <a:pPr>
              <a:spcAft>
                <a:spcPts val="600"/>
              </a:spcAft>
            </a:pPr>
            <a:r>
              <a:rPr lang="en-US" sz="3200" dirty="0"/>
              <a:t>c: completed 110</a:t>
            </a:r>
          </a:p>
          <a:p>
            <a:pPr>
              <a:spcAft>
                <a:spcPts val="600"/>
              </a:spcAft>
            </a:pPr>
            <a:r>
              <a:rPr lang="en-US" sz="3200" dirty="0"/>
              <a:t>a: advisor approval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FB2FB0-2E35-8182-BE15-B70AF4EAACFA}"/>
              </a:ext>
            </a:extLst>
          </p:cNvPr>
          <p:cNvSpPr txBox="1"/>
          <p:nvPr/>
        </p:nvSpPr>
        <p:spPr>
          <a:xfrm>
            <a:off x="5919539" y="4106779"/>
            <a:ext cx="26309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t → (c v 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C7BFB1-9632-0F54-AA9E-78CEB561A3E4}"/>
              </a:ext>
            </a:extLst>
          </p:cNvPr>
          <p:cNvSpPr txBox="1"/>
          <p:nvPr/>
        </p:nvSpPr>
        <p:spPr>
          <a:xfrm>
            <a:off x="5550568" y="4904799"/>
            <a:ext cx="62885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This is correct. If you’re in the class, then it must be true that you’ve completed 110 or got approval.</a:t>
            </a:r>
          </a:p>
        </p:txBody>
      </p:sp>
    </p:spTree>
    <p:extLst>
      <p:ext uri="{BB962C8B-B14F-4D97-AF65-F5344CB8AC3E}">
        <p14:creationId xmlns:p14="http://schemas.microsoft.com/office/powerpoint/2010/main" val="389616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A5D1A-BF68-661C-8FEE-5812BDED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803"/>
          </a:xfrm>
        </p:spPr>
        <p:txBody>
          <a:bodyPr/>
          <a:lstStyle/>
          <a:p>
            <a:r>
              <a:rPr lang="en-US" b="1" u="sng" dirty="0"/>
              <a:t>1.2 Applications of Propositional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22102-0A05-ADBA-CE16-183B2911C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169"/>
            <a:ext cx="10515600" cy="18548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Translating English Statements</a:t>
            </a:r>
          </a:p>
          <a:p>
            <a:pPr marL="0" indent="0">
              <a:buNone/>
            </a:pPr>
            <a:r>
              <a:rPr lang="en-US" sz="3600" dirty="0">
                <a:solidFill>
                  <a:schemeClr val="accent1"/>
                </a:solidFill>
              </a:rPr>
              <a:t>You cannot ride the rollercoaster if you are under 4 feet tall unless you are older than 16 years.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CA8962-A0E8-EA9C-D42C-9F9CD1D3994D}"/>
              </a:ext>
            </a:extLst>
          </p:cNvPr>
          <p:cNvSpPr txBox="1"/>
          <p:nvPr/>
        </p:nvSpPr>
        <p:spPr>
          <a:xfrm>
            <a:off x="705854" y="3818021"/>
            <a:ext cx="407469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3200" dirty="0"/>
              <a:t>First, assign variables:</a:t>
            </a:r>
          </a:p>
          <a:p>
            <a:pPr>
              <a:spcAft>
                <a:spcPts val="600"/>
              </a:spcAft>
            </a:pPr>
            <a:r>
              <a:rPr lang="en-US" sz="3200" dirty="0"/>
              <a:t>r: ride the rollercoaster</a:t>
            </a:r>
          </a:p>
          <a:p>
            <a:pPr>
              <a:spcAft>
                <a:spcPts val="600"/>
              </a:spcAft>
            </a:pPr>
            <a:r>
              <a:rPr lang="en-US" sz="3200" dirty="0"/>
              <a:t>u: under 4 feet tall</a:t>
            </a:r>
          </a:p>
          <a:p>
            <a:pPr>
              <a:spcAft>
                <a:spcPts val="600"/>
              </a:spcAft>
            </a:pPr>
            <a:r>
              <a:rPr lang="en-US" sz="3200" dirty="0"/>
              <a:t>o: older than 16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FB2FB0-2E35-8182-BE15-B70AF4EAACFA}"/>
                  </a:ext>
                </a:extLst>
              </p:cNvPr>
              <p:cNvSpPr txBox="1"/>
              <p:nvPr/>
            </p:nvSpPr>
            <p:spPr>
              <a:xfrm>
                <a:off x="5919539" y="4106779"/>
                <a:ext cx="263090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FF0000"/>
                    </a:solidFill>
                  </a:rPr>
                  <a:t>(u </a:t>
                </a:r>
                <a14:m>
                  <m:oMath xmlns:m="http://schemas.openxmlformats.org/officeDocument/2006/math">
                    <m:nary>
                      <m:naryPr>
                        <m:chr m:val="⋀"/>
                        <m:subHide m:val="on"/>
                        <m:supHide m:val="on"/>
                        <m:ctrlP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8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¬ 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e>
                    </m:nary>
                    <m:r>
                      <a:rPr lang="en-US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)→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¬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FB2FB0-2E35-8182-BE15-B70AF4EAA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9539" y="4106779"/>
                <a:ext cx="2630904" cy="523220"/>
              </a:xfrm>
              <a:prstGeom prst="rect">
                <a:avLst/>
              </a:prstGeom>
              <a:blipFill>
                <a:blip r:embed="rId2"/>
                <a:stretch>
                  <a:fillRect l="-4630"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5181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A5D1A-BF68-661C-8FEE-5812BDED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803"/>
          </a:xfrm>
        </p:spPr>
        <p:txBody>
          <a:bodyPr/>
          <a:lstStyle/>
          <a:p>
            <a:r>
              <a:rPr lang="en-US" b="1" u="sng" dirty="0"/>
              <a:t>1.2 Applications of Propositional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22102-0A05-ADBA-CE16-183B2911C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169"/>
            <a:ext cx="10515600" cy="37096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System Specifications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Requirements for systems are often expressed in English. They must be interpreted as logic. Then we must make sure we can satisfy the conditions.</a:t>
            </a:r>
          </a:p>
        </p:txBody>
      </p:sp>
    </p:spTree>
    <p:extLst>
      <p:ext uri="{BB962C8B-B14F-4D97-AF65-F5344CB8AC3E}">
        <p14:creationId xmlns:p14="http://schemas.microsoft.com/office/powerpoint/2010/main" val="35069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A5D1A-BF68-661C-8FEE-5812BDED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803"/>
          </a:xfrm>
        </p:spPr>
        <p:txBody>
          <a:bodyPr/>
          <a:lstStyle/>
          <a:p>
            <a:r>
              <a:rPr lang="en-US" b="1" u="sng" dirty="0"/>
              <a:t>1.2 Applications of Propositional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22102-0A05-ADBA-CE16-183B2911C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169"/>
            <a:ext cx="10515600" cy="3709661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600" dirty="0"/>
              <a:t>System Specifications</a:t>
            </a:r>
          </a:p>
          <a:p>
            <a:pPr marL="742950" indent="-7429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>
                <a:solidFill>
                  <a:schemeClr val="accent1"/>
                </a:solidFill>
              </a:rPr>
              <a:t>The diagnostic message is stored in the buffer or it is retransmitted.</a:t>
            </a:r>
          </a:p>
          <a:p>
            <a:pPr marL="742950" indent="-7429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>
                <a:solidFill>
                  <a:schemeClr val="accent1"/>
                </a:solidFill>
              </a:rPr>
              <a:t>The diagnostic message is not stored in the buffer.</a:t>
            </a:r>
          </a:p>
          <a:p>
            <a:pPr marL="742950" indent="-7429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>
                <a:solidFill>
                  <a:schemeClr val="accent1"/>
                </a:solidFill>
              </a:rPr>
              <a:t>If the diagnostic message is stored in the buffer, then it is retransmitted. </a:t>
            </a: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23990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22102-0A05-ADBA-CE16-183B2911C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4970"/>
            <a:ext cx="10515600" cy="2869494"/>
          </a:xfrm>
        </p:spPr>
        <p:txBody>
          <a:bodyPr>
            <a:normAutofit/>
          </a:bodyPr>
          <a:lstStyle/>
          <a:p>
            <a:pPr marL="742950" indent="-7429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>
                <a:solidFill>
                  <a:schemeClr val="accent1"/>
                </a:solidFill>
              </a:rPr>
              <a:t>The diagnostic message is stored in the buffer or it is retransmitted.</a:t>
            </a:r>
          </a:p>
          <a:p>
            <a:pPr marL="742950" indent="-7429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>
                <a:solidFill>
                  <a:schemeClr val="accent1"/>
                </a:solidFill>
              </a:rPr>
              <a:t>The diagnostic message is not stored in the buffer.</a:t>
            </a:r>
          </a:p>
          <a:p>
            <a:pPr marL="742950" indent="-7429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>
                <a:solidFill>
                  <a:schemeClr val="accent1"/>
                </a:solidFill>
              </a:rPr>
              <a:t>If the diagnostic message is stored in the buffer, then it is retransmitted. 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DBA977-EC50-A962-4E5C-477221FB96CC}"/>
              </a:ext>
            </a:extLst>
          </p:cNvPr>
          <p:cNvSpPr txBox="1"/>
          <p:nvPr/>
        </p:nvSpPr>
        <p:spPr>
          <a:xfrm>
            <a:off x="838200" y="3429000"/>
            <a:ext cx="57390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b: diagnostic message stored in buffer</a:t>
            </a:r>
          </a:p>
          <a:p>
            <a:r>
              <a:rPr lang="en-US" sz="2800" dirty="0"/>
              <a:t>r: message is retransmitted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4FF7CF-E7F7-5296-E2A2-222AE480BE4F}"/>
                  </a:ext>
                </a:extLst>
              </p:cNvPr>
              <p:cNvSpPr txBox="1"/>
              <p:nvPr/>
            </p:nvSpPr>
            <p:spPr>
              <a:xfrm>
                <a:off x="838199" y="4675875"/>
                <a:ext cx="1295401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4FF7CF-E7F7-5296-E2A2-222AE480B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675875"/>
                <a:ext cx="1295401" cy="13849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ECCA01D-3982-2F9B-3CB7-55D44B1E16CA}"/>
              </a:ext>
            </a:extLst>
          </p:cNvPr>
          <p:cNvSpPr txBox="1"/>
          <p:nvPr/>
        </p:nvSpPr>
        <p:spPr>
          <a:xfrm>
            <a:off x="3505199" y="4722041"/>
            <a:ext cx="830179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We want to know if we can satisfy the specification. We can if the specification is </a:t>
            </a:r>
            <a:r>
              <a:rPr lang="en-US" sz="2800" u="sng" dirty="0"/>
              <a:t>consistent</a:t>
            </a:r>
            <a:r>
              <a:rPr lang="en-US" sz="2800" dirty="0"/>
              <a:t>. This means there’s an assignment that make all specifications true.</a:t>
            </a:r>
          </a:p>
        </p:txBody>
      </p:sp>
    </p:spTree>
    <p:extLst>
      <p:ext uri="{BB962C8B-B14F-4D97-AF65-F5344CB8AC3E}">
        <p14:creationId xmlns:p14="http://schemas.microsoft.com/office/powerpoint/2010/main" val="2446286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22102-0A05-ADBA-CE16-183B2911C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4970"/>
            <a:ext cx="10515600" cy="2869494"/>
          </a:xfrm>
        </p:spPr>
        <p:txBody>
          <a:bodyPr>
            <a:normAutofit/>
          </a:bodyPr>
          <a:lstStyle/>
          <a:p>
            <a:pPr marL="742950" indent="-7429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>
                <a:solidFill>
                  <a:schemeClr val="accent1"/>
                </a:solidFill>
              </a:rPr>
              <a:t>The diagnostic message is stored in the buffer or it is retransmitted.</a:t>
            </a:r>
          </a:p>
          <a:p>
            <a:pPr marL="742950" indent="-7429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>
                <a:solidFill>
                  <a:schemeClr val="accent1"/>
                </a:solidFill>
              </a:rPr>
              <a:t>The diagnostic message is not stored in the buffer.</a:t>
            </a:r>
          </a:p>
          <a:p>
            <a:pPr marL="742950" indent="-7429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>
                <a:solidFill>
                  <a:schemeClr val="accent1"/>
                </a:solidFill>
              </a:rPr>
              <a:t>If the diagnostic message is stored in the buffer, then it is retransmitted. 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DBA977-EC50-A962-4E5C-477221FB96CC}"/>
              </a:ext>
            </a:extLst>
          </p:cNvPr>
          <p:cNvSpPr txBox="1"/>
          <p:nvPr/>
        </p:nvSpPr>
        <p:spPr>
          <a:xfrm>
            <a:off x="838200" y="3429000"/>
            <a:ext cx="57390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b: diagnostic message stored in buffer</a:t>
            </a:r>
          </a:p>
          <a:p>
            <a:r>
              <a:rPr lang="en-US" sz="2800" dirty="0"/>
              <a:t>r: message is retransmitted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4FF7CF-E7F7-5296-E2A2-222AE480BE4F}"/>
                  </a:ext>
                </a:extLst>
              </p:cNvPr>
              <p:cNvSpPr txBox="1"/>
              <p:nvPr/>
            </p:nvSpPr>
            <p:spPr>
              <a:xfrm>
                <a:off x="838199" y="4675875"/>
                <a:ext cx="1295401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4FF7CF-E7F7-5296-E2A2-222AE480B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675875"/>
                <a:ext cx="1295401" cy="13849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529992B6-C0A3-8F57-9CF3-44BC560713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8816161"/>
                  </p:ext>
                </p:extLst>
              </p:nvPr>
            </p:nvGraphicFramePr>
            <p:xfrm>
              <a:off x="7074568" y="3633536"/>
              <a:ext cx="3914273" cy="2630834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567874">
                      <a:extLst>
                        <a:ext uri="{9D8B030D-6E8A-4147-A177-3AD203B41FA5}">
                          <a16:colId xmlns:a16="http://schemas.microsoft.com/office/drawing/2014/main" val="1477522768"/>
                        </a:ext>
                      </a:extLst>
                    </a:gridCol>
                    <a:gridCol w="689562">
                      <a:extLst>
                        <a:ext uri="{9D8B030D-6E8A-4147-A177-3AD203B41FA5}">
                          <a16:colId xmlns:a16="http://schemas.microsoft.com/office/drawing/2014/main" val="3303949594"/>
                        </a:ext>
                      </a:extLst>
                    </a:gridCol>
                    <a:gridCol w="973498">
                      <a:extLst>
                        <a:ext uri="{9D8B030D-6E8A-4147-A177-3AD203B41FA5}">
                          <a16:colId xmlns:a16="http://schemas.microsoft.com/office/drawing/2014/main" val="1956257732"/>
                        </a:ext>
                      </a:extLst>
                    </a:gridCol>
                    <a:gridCol w="669279">
                      <a:extLst>
                        <a:ext uri="{9D8B030D-6E8A-4147-A177-3AD203B41FA5}">
                          <a16:colId xmlns:a16="http://schemas.microsoft.com/office/drawing/2014/main" val="1632996866"/>
                        </a:ext>
                      </a:extLst>
                    </a:gridCol>
                    <a:gridCol w="1014060">
                      <a:extLst>
                        <a:ext uri="{9D8B030D-6E8A-4147-A177-3AD203B41FA5}">
                          <a16:colId xmlns:a16="http://schemas.microsoft.com/office/drawing/2014/main" val="2146235694"/>
                        </a:ext>
                      </a:extLst>
                    </a:gridCol>
                  </a:tblGrid>
                  <a:tr h="8020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996778"/>
                      </a:ext>
                    </a:extLst>
                  </a:tr>
                  <a:tr h="4501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2616938"/>
                      </a:ext>
                    </a:extLst>
                  </a:tr>
                  <a:tr h="4501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828922"/>
                      </a:ext>
                    </a:extLst>
                  </a:tr>
                  <a:tr h="4501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852992"/>
                      </a:ext>
                    </a:extLst>
                  </a:tr>
                  <a:tr h="4501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75722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529992B6-C0A3-8F57-9CF3-44BC560713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8816161"/>
                  </p:ext>
                </p:extLst>
              </p:nvPr>
            </p:nvGraphicFramePr>
            <p:xfrm>
              <a:off x="7074568" y="3633536"/>
              <a:ext cx="3914273" cy="2630834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567874">
                      <a:extLst>
                        <a:ext uri="{9D8B030D-6E8A-4147-A177-3AD203B41FA5}">
                          <a16:colId xmlns:a16="http://schemas.microsoft.com/office/drawing/2014/main" val="1477522768"/>
                        </a:ext>
                      </a:extLst>
                    </a:gridCol>
                    <a:gridCol w="689562">
                      <a:extLst>
                        <a:ext uri="{9D8B030D-6E8A-4147-A177-3AD203B41FA5}">
                          <a16:colId xmlns:a16="http://schemas.microsoft.com/office/drawing/2014/main" val="3303949594"/>
                        </a:ext>
                      </a:extLst>
                    </a:gridCol>
                    <a:gridCol w="973498">
                      <a:extLst>
                        <a:ext uri="{9D8B030D-6E8A-4147-A177-3AD203B41FA5}">
                          <a16:colId xmlns:a16="http://schemas.microsoft.com/office/drawing/2014/main" val="1956257732"/>
                        </a:ext>
                      </a:extLst>
                    </a:gridCol>
                    <a:gridCol w="669279">
                      <a:extLst>
                        <a:ext uri="{9D8B030D-6E8A-4147-A177-3AD203B41FA5}">
                          <a16:colId xmlns:a16="http://schemas.microsoft.com/office/drawing/2014/main" val="1632996866"/>
                        </a:ext>
                      </a:extLst>
                    </a:gridCol>
                    <a:gridCol w="1014060">
                      <a:extLst>
                        <a:ext uri="{9D8B030D-6E8A-4147-A177-3AD203B41FA5}">
                          <a16:colId xmlns:a16="http://schemas.microsoft.com/office/drawing/2014/main" val="2146235694"/>
                        </a:ext>
                      </a:extLst>
                    </a:gridCol>
                  </a:tblGrid>
                  <a:tr h="8020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30818" t="-6061" r="-176101" b="-2446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33636" t="-6061" r="-154545" b="-2446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85629" t="-6061" r="-1796" b="-2446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99677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261693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82892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85299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757227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22560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22102-0A05-ADBA-CE16-183B2911C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4970"/>
            <a:ext cx="10515600" cy="2869494"/>
          </a:xfrm>
        </p:spPr>
        <p:txBody>
          <a:bodyPr>
            <a:normAutofit/>
          </a:bodyPr>
          <a:lstStyle/>
          <a:p>
            <a:pPr marL="742950" indent="-7429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>
                <a:solidFill>
                  <a:schemeClr val="accent1"/>
                </a:solidFill>
              </a:rPr>
              <a:t>The diagnostic message is stored in the buffer or it is retransmitted.</a:t>
            </a:r>
          </a:p>
          <a:p>
            <a:pPr marL="742950" indent="-7429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>
                <a:solidFill>
                  <a:schemeClr val="accent1"/>
                </a:solidFill>
              </a:rPr>
              <a:t>The diagnostic message is not stored in the buffer.</a:t>
            </a:r>
          </a:p>
          <a:p>
            <a:pPr marL="742950" indent="-7429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>
                <a:solidFill>
                  <a:schemeClr val="accent1"/>
                </a:solidFill>
              </a:rPr>
              <a:t>If the diagnostic message is stored in the buffer, then it is retransmitted. 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DBA977-EC50-A962-4E5C-477221FB96CC}"/>
              </a:ext>
            </a:extLst>
          </p:cNvPr>
          <p:cNvSpPr txBox="1"/>
          <p:nvPr/>
        </p:nvSpPr>
        <p:spPr>
          <a:xfrm>
            <a:off x="838200" y="3429000"/>
            <a:ext cx="57390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b: diagnostic message stored in buffer</a:t>
            </a:r>
          </a:p>
          <a:p>
            <a:r>
              <a:rPr lang="en-US" sz="2800" dirty="0"/>
              <a:t>r: message is retransmitted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4FF7CF-E7F7-5296-E2A2-222AE480BE4F}"/>
                  </a:ext>
                </a:extLst>
              </p:cNvPr>
              <p:cNvSpPr txBox="1"/>
              <p:nvPr/>
            </p:nvSpPr>
            <p:spPr>
              <a:xfrm>
                <a:off x="838199" y="4675875"/>
                <a:ext cx="1295401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4FF7CF-E7F7-5296-E2A2-222AE480B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675875"/>
                <a:ext cx="1295401" cy="13849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529992B6-C0A3-8F57-9CF3-44BC560713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4955730"/>
                  </p:ext>
                </p:extLst>
              </p:nvPr>
            </p:nvGraphicFramePr>
            <p:xfrm>
              <a:off x="7058526" y="3633536"/>
              <a:ext cx="3930315" cy="2630834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583916">
                      <a:extLst>
                        <a:ext uri="{9D8B030D-6E8A-4147-A177-3AD203B41FA5}">
                          <a16:colId xmlns:a16="http://schemas.microsoft.com/office/drawing/2014/main" val="1477522768"/>
                        </a:ext>
                      </a:extLst>
                    </a:gridCol>
                    <a:gridCol w="689562">
                      <a:extLst>
                        <a:ext uri="{9D8B030D-6E8A-4147-A177-3AD203B41FA5}">
                          <a16:colId xmlns:a16="http://schemas.microsoft.com/office/drawing/2014/main" val="3303949594"/>
                        </a:ext>
                      </a:extLst>
                    </a:gridCol>
                    <a:gridCol w="973498">
                      <a:extLst>
                        <a:ext uri="{9D8B030D-6E8A-4147-A177-3AD203B41FA5}">
                          <a16:colId xmlns:a16="http://schemas.microsoft.com/office/drawing/2014/main" val="1956257732"/>
                        </a:ext>
                      </a:extLst>
                    </a:gridCol>
                    <a:gridCol w="669279">
                      <a:extLst>
                        <a:ext uri="{9D8B030D-6E8A-4147-A177-3AD203B41FA5}">
                          <a16:colId xmlns:a16="http://schemas.microsoft.com/office/drawing/2014/main" val="1632996866"/>
                        </a:ext>
                      </a:extLst>
                    </a:gridCol>
                    <a:gridCol w="1014060">
                      <a:extLst>
                        <a:ext uri="{9D8B030D-6E8A-4147-A177-3AD203B41FA5}">
                          <a16:colId xmlns:a16="http://schemas.microsoft.com/office/drawing/2014/main" val="2146235694"/>
                        </a:ext>
                      </a:extLst>
                    </a:gridCol>
                  </a:tblGrid>
                  <a:tr h="8020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996778"/>
                      </a:ext>
                    </a:extLst>
                  </a:tr>
                  <a:tr h="4501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2616938"/>
                      </a:ext>
                    </a:extLst>
                  </a:tr>
                  <a:tr h="4501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828922"/>
                      </a:ext>
                    </a:extLst>
                  </a:tr>
                  <a:tr h="4501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852992"/>
                      </a:ext>
                    </a:extLst>
                  </a:tr>
                  <a:tr h="4501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75722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529992B6-C0A3-8F57-9CF3-44BC560713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4955730"/>
                  </p:ext>
                </p:extLst>
              </p:nvPr>
            </p:nvGraphicFramePr>
            <p:xfrm>
              <a:off x="7058526" y="3633536"/>
              <a:ext cx="3930315" cy="2630834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583916">
                      <a:extLst>
                        <a:ext uri="{9D8B030D-6E8A-4147-A177-3AD203B41FA5}">
                          <a16:colId xmlns:a16="http://schemas.microsoft.com/office/drawing/2014/main" val="1477522768"/>
                        </a:ext>
                      </a:extLst>
                    </a:gridCol>
                    <a:gridCol w="689562">
                      <a:extLst>
                        <a:ext uri="{9D8B030D-6E8A-4147-A177-3AD203B41FA5}">
                          <a16:colId xmlns:a16="http://schemas.microsoft.com/office/drawing/2014/main" val="3303949594"/>
                        </a:ext>
                      </a:extLst>
                    </a:gridCol>
                    <a:gridCol w="973498">
                      <a:extLst>
                        <a:ext uri="{9D8B030D-6E8A-4147-A177-3AD203B41FA5}">
                          <a16:colId xmlns:a16="http://schemas.microsoft.com/office/drawing/2014/main" val="1956257732"/>
                        </a:ext>
                      </a:extLst>
                    </a:gridCol>
                    <a:gridCol w="669279">
                      <a:extLst>
                        <a:ext uri="{9D8B030D-6E8A-4147-A177-3AD203B41FA5}">
                          <a16:colId xmlns:a16="http://schemas.microsoft.com/office/drawing/2014/main" val="1632996866"/>
                        </a:ext>
                      </a:extLst>
                    </a:gridCol>
                    <a:gridCol w="1014060">
                      <a:extLst>
                        <a:ext uri="{9D8B030D-6E8A-4147-A177-3AD203B41FA5}">
                          <a16:colId xmlns:a16="http://schemas.microsoft.com/office/drawing/2014/main" val="2146235694"/>
                        </a:ext>
                      </a:extLst>
                    </a:gridCol>
                  </a:tblGrid>
                  <a:tr h="8020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31250" t="-6061" r="-175000" b="-2446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36364" t="-6061" r="-154545" b="-2446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87425" t="-6061" r="-1796" b="-2446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99677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261693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82892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85299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757227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1F3929F-7768-F533-968C-68BFF3391512}"/>
              </a:ext>
            </a:extLst>
          </p:cNvPr>
          <p:cNvCxnSpPr>
            <a:cxnSpLocks/>
          </p:cNvCxnSpPr>
          <p:nvPr/>
        </p:nvCxnSpPr>
        <p:spPr>
          <a:xfrm>
            <a:off x="5534526" y="5518483"/>
            <a:ext cx="112294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6C5B8C-61CD-25AD-BB4E-402F30CF8423}"/>
              </a:ext>
            </a:extLst>
          </p:cNvPr>
          <p:cNvSpPr txBox="1"/>
          <p:nvPr/>
        </p:nvSpPr>
        <p:spPr>
          <a:xfrm>
            <a:off x="3625516" y="4707959"/>
            <a:ext cx="17806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b = False</a:t>
            </a:r>
          </a:p>
          <a:p>
            <a:r>
              <a:rPr lang="en-US" sz="2800" dirty="0">
                <a:solidFill>
                  <a:schemeClr val="accent1"/>
                </a:solidFill>
              </a:rPr>
              <a:t>r = True </a:t>
            </a:r>
          </a:p>
          <a:p>
            <a:r>
              <a:rPr lang="en-US" sz="2800" dirty="0">
                <a:solidFill>
                  <a:schemeClr val="accent1"/>
                </a:solidFill>
              </a:rPr>
              <a:t>Works</a:t>
            </a:r>
          </a:p>
        </p:txBody>
      </p:sp>
    </p:spTree>
    <p:extLst>
      <p:ext uri="{BB962C8B-B14F-4D97-AF65-F5344CB8AC3E}">
        <p14:creationId xmlns:p14="http://schemas.microsoft.com/office/powerpoint/2010/main" val="1751905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22102-0A05-ADBA-CE16-183B2911C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4970"/>
            <a:ext cx="10515600" cy="2869494"/>
          </a:xfrm>
        </p:spPr>
        <p:txBody>
          <a:bodyPr>
            <a:normAutofit/>
          </a:bodyPr>
          <a:lstStyle/>
          <a:p>
            <a:pPr marL="742950" indent="-7429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>
                <a:solidFill>
                  <a:schemeClr val="accent1"/>
                </a:solidFill>
              </a:rPr>
              <a:t>The diagnostic message is stored in the buffer or it is retransmitted.</a:t>
            </a:r>
          </a:p>
          <a:p>
            <a:pPr marL="742950" indent="-7429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>
                <a:solidFill>
                  <a:schemeClr val="accent1"/>
                </a:solidFill>
              </a:rPr>
              <a:t>The diagnostic message is not stored in the buffer.</a:t>
            </a:r>
          </a:p>
          <a:p>
            <a:pPr marL="742950" indent="-7429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>
                <a:solidFill>
                  <a:schemeClr val="accent1"/>
                </a:solidFill>
              </a:rPr>
              <a:t>If the diagnostic message is stored in the buffer, then it is retransmitted. 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6C5B8C-61CD-25AD-BB4E-402F30CF8423}"/>
              </a:ext>
            </a:extLst>
          </p:cNvPr>
          <p:cNvSpPr txBox="1"/>
          <p:nvPr/>
        </p:nvSpPr>
        <p:spPr>
          <a:xfrm>
            <a:off x="8526378" y="5012759"/>
            <a:ext cx="17806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b = False</a:t>
            </a:r>
          </a:p>
          <a:p>
            <a:r>
              <a:rPr lang="en-US" sz="2800" dirty="0">
                <a:solidFill>
                  <a:schemeClr val="accent1"/>
                </a:solidFill>
              </a:rPr>
              <a:t>r = True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361BBB-6047-75EA-03AA-AD0BC2D76BDF}"/>
              </a:ext>
            </a:extLst>
          </p:cNvPr>
          <p:cNvSpPr txBox="1"/>
          <p:nvPr/>
        </p:nvSpPr>
        <p:spPr>
          <a:xfrm>
            <a:off x="838200" y="3224464"/>
            <a:ext cx="102468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What if we add the condition</a:t>
            </a:r>
          </a:p>
          <a:p>
            <a:r>
              <a:rPr lang="en-US" sz="3600" dirty="0"/>
              <a:t>4. The diagnostic message is stored in the buffer.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D9B4C1-82D5-80CA-CE2D-EDDBFF20A45E}"/>
              </a:ext>
            </a:extLst>
          </p:cNvPr>
          <p:cNvSpPr txBox="1"/>
          <p:nvPr/>
        </p:nvSpPr>
        <p:spPr>
          <a:xfrm>
            <a:off x="838200" y="4860758"/>
            <a:ext cx="64288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Now we are no longer consistent because our only possible solution no longer works.</a:t>
            </a:r>
          </a:p>
        </p:txBody>
      </p:sp>
    </p:spTree>
    <p:extLst>
      <p:ext uri="{BB962C8B-B14F-4D97-AF65-F5344CB8AC3E}">
        <p14:creationId xmlns:p14="http://schemas.microsoft.com/office/powerpoint/2010/main" val="2953114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A5D1A-BF68-661C-8FEE-5812BDED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803"/>
          </a:xfrm>
        </p:spPr>
        <p:txBody>
          <a:bodyPr/>
          <a:lstStyle/>
          <a:p>
            <a:r>
              <a:rPr lang="en-US" b="1" u="sng" dirty="0"/>
              <a:t>1.2 Applications of Propositional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22102-0A05-ADBA-CE16-183B2911C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169"/>
            <a:ext cx="10515600" cy="7218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Logic Puzzles</a:t>
            </a:r>
          </a:p>
          <a:p>
            <a:endParaRPr lang="en-US" sz="3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20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FA19FF8D-C703-50DA-5EF7-7FA089DD15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Knights and Knaves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656C6-AD1A-D3A9-AE9A-34447256DA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/>
              <a:t>There are a series of puzzles based on a mythical island of knights and knaves. Knights always tell the truth. Knaves always lie. The goal is to figure out who is a knight and who is a knave based on what they say.</a:t>
            </a:r>
            <a:br>
              <a:rPr lang="en-US" altLang="en-US" dirty="0"/>
            </a:b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For Example:</a:t>
            </a:r>
          </a:p>
          <a:p>
            <a:pPr marL="0" indent="0">
              <a:buNone/>
            </a:pPr>
            <a:r>
              <a:rPr lang="en-US" altLang="en-US" dirty="0"/>
              <a:t>You meet two characters, </a:t>
            </a:r>
            <a:r>
              <a:rPr lang="en-US" altLang="en-US" dirty="0" err="1"/>
              <a:t>Doof</a:t>
            </a:r>
            <a:r>
              <a:rPr lang="en-US" altLang="en-US" dirty="0"/>
              <a:t> and Perry. </a:t>
            </a:r>
            <a:br>
              <a:rPr lang="en-US" altLang="en-US" dirty="0"/>
            </a:br>
            <a:r>
              <a:rPr lang="en-US" altLang="en-US" dirty="0" err="1"/>
              <a:t>Doof</a:t>
            </a:r>
            <a:r>
              <a:rPr lang="en-US" altLang="en-US" dirty="0"/>
              <a:t> says: “At least one of is a knave.”</a:t>
            </a:r>
            <a:br>
              <a:rPr lang="en-US" altLang="en-US" dirty="0"/>
            </a:br>
            <a:r>
              <a:rPr lang="en-US" altLang="en-US" dirty="0"/>
              <a:t>Perry says nothing.</a:t>
            </a:r>
            <a:br>
              <a:rPr lang="en-US" altLang="en-US" dirty="0"/>
            </a:b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Can you tell what each character is?</a:t>
            </a:r>
          </a:p>
          <a:p>
            <a:pPr marL="0" indent="0">
              <a:buNone/>
            </a:pPr>
            <a:r>
              <a:rPr lang="en-US" altLang="en-US" dirty="0"/>
              <a:t>How do you know?</a:t>
            </a:r>
          </a:p>
        </p:txBody>
      </p:sp>
      <p:sp>
        <p:nvSpPr>
          <p:cNvPr id="19460" name="Date Placeholder 3">
            <a:extLst>
              <a:ext uri="{FF2B5EF4-FFF2-40B4-BE49-F238E27FC236}">
                <a16:creationId xmlns:a16="http://schemas.microsoft.com/office/drawing/2014/main" id="{FAA22C0C-3D10-457B-1C53-4C124A1BAE1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7AA5"/>
              </a:buClr>
              <a:buSzPct val="55000"/>
              <a:buFont typeface="Zapf Dingbats" pitchFamily="1" charset="2"/>
              <a:buChar char=""/>
              <a:defRPr sz="2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B5D6"/>
              </a:buClr>
              <a:buSzPct val="40000"/>
              <a:buFont typeface="Zapf Dingbats" pitchFamily="1" charset="2"/>
              <a:buChar char=""/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8000"/>
              </a:buClr>
              <a:buChar char="•"/>
              <a:defRPr sz="20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000">
                <a:solidFill>
                  <a:srgbClr val="00B5D6"/>
                </a:solidFill>
                <a:latin typeface="Syntax Bold" pitchFamily="73" charset="0"/>
              </a:rPr>
              <a:t>Section 2.1</a:t>
            </a:r>
          </a:p>
        </p:txBody>
      </p:sp>
      <p:sp>
        <p:nvSpPr>
          <p:cNvPr id="19461" name="Footer Placeholder 4">
            <a:extLst>
              <a:ext uri="{FF2B5EF4-FFF2-40B4-BE49-F238E27FC236}">
                <a16:creationId xmlns:a16="http://schemas.microsoft.com/office/drawing/2014/main" id="{AFCAFF10-9AEA-CC42-7CC2-10CD81238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7AA5"/>
              </a:buClr>
              <a:buSzPct val="55000"/>
              <a:buFont typeface="Zapf Dingbats" pitchFamily="1" charset="2"/>
              <a:buChar char=""/>
              <a:defRPr sz="2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B5D6"/>
              </a:buClr>
              <a:buSzPct val="40000"/>
              <a:buFont typeface="Zapf Dingbats" pitchFamily="1" charset="2"/>
              <a:buChar char=""/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8000"/>
              </a:buClr>
              <a:buChar char="•"/>
              <a:defRPr sz="20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000">
                <a:solidFill>
                  <a:srgbClr val="00B5D6"/>
                </a:solidFill>
                <a:latin typeface="Syntax Bold" pitchFamily="73" charset="0"/>
              </a:rPr>
              <a:t>Proof Techniques</a:t>
            </a:r>
          </a:p>
        </p:txBody>
      </p:sp>
      <p:sp>
        <p:nvSpPr>
          <p:cNvPr id="19462" name="Slide Number Placeholder 5">
            <a:extLst>
              <a:ext uri="{FF2B5EF4-FFF2-40B4-BE49-F238E27FC236}">
                <a16:creationId xmlns:a16="http://schemas.microsoft.com/office/drawing/2014/main" id="{4A236AFB-111C-D103-59EF-88ECDAE3E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7AA5"/>
              </a:buClr>
              <a:buSzPct val="55000"/>
              <a:buFont typeface="Zapf Dingbats" pitchFamily="1" charset="2"/>
              <a:buChar char=""/>
              <a:defRPr sz="2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B5D6"/>
              </a:buClr>
              <a:buSzPct val="40000"/>
              <a:buFont typeface="Zapf Dingbats" pitchFamily="1" charset="2"/>
              <a:buChar char=""/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8000"/>
              </a:buClr>
              <a:buChar char="•"/>
              <a:defRPr sz="20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055116F2-41D3-419E-B718-28A40A44640D}" type="slidenum">
              <a:rPr lang="en-US" altLang="en-US" sz="1000">
                <a:solidFill>
                  <a:srgbClr val="00B5D6"/>
                </a:solidFill>
                <a:latin typeface="Syntax Bold" pitchFamily="73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12</a:t>
            </a:fld>
            <a:endParaRPr lang="en-US" altLang="en-US" sz="1000">
              <a:solidFill>
                <a:srgbClr val="00B5D6"/>
              </a:solidFill>
              <a:latin typeface="Syntax Bold" pitchFamily="73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FA19FF8D-C703-50DA-5EF7-7FA089DD15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Knights and Knaves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C656C6-AD1A-D3A9-AE9A-34447256DA86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en-US" dirty="0"/>
                  <a:t>Doof says: “At least one of is a knave.”</a:t>
                </a:r>
                <a:br>
                  <a:rPr lang="en-US" altLang="en-US" dirty="0"/>
                </a:br>
                <a:r>
                  <a:rPr lang="en-US" altLang="en-US" dirty="0"/>
                  <a:t>Perry says nothing.</a:t>
                </a:r>
                <a:br>
                  <a:rPr lang="en-US" altLang="en-US" dirty="0"/>
                </a:br>
                <a:endParaRPr lang="en-US" altLang="en-US" dirty="0"/>
              </a:p>
              <a:p>
                <a:pPr marL="0" indent="0">
                  <a:buNone/>
                </a:pPr>
                <a:r>
                  <a:rPr lang="en-US" altLang="en-US" dirty="0"/>
                  <a:t>D: D is knight</a:t>
                </a:r>
              </a:p>
              <a:p>
                <a:pPr marL="0" indent="0">
                  <a:buNone/>
                </a:pPr>
                <a:r>
                  <a:rPr lang="en-US" altLang="en-US" dirty="0"/>
                  <a:t>P: P is knight</a:t>
                </a:r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 →¬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∨¬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en-US" dirty="0"/>
                  <a:t> </a:t>
                </a:r>
              </a:p>
              <a:p>
                <a:pPr marL="0" indent="0">
                  <a:buNone/>
                </a:pPr>
                <a:endParaRPr lang="en-US" altLang="en-US" dirty="0"/>
              </a:p>
              <a:p>
                <a:pPr marL="0" indent="0">
                  <a:buNone/>
                </a:pPr>
                <a:endParaRPr lang="en-US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C656C6-AD1A-D3A9-AE9A-34447256DA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59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60" name="Date Placeholder 3">
            <a:extLst>
              <a:ext uri="{FF2B5EF4-FFF2-40B4-BE49-F238E27FC236}">
                <a16:creationId xmlns:a16="http://schemas.microsoft.com/office/drawing/2014/main" id="{FAA22C0C-3D10-457B-1C53-4C124A1BAE1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7AA5"/>
              </a:buClr>
              <a:buSzPct val="55000"/>
              <a:buFont typeface="Zapf Dingbats" pitchFamily="1" charset="2"/>
              <a:buChar char=""/>
              <a:defRPr sz="2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B5D6"/>
              </a:buClr>
              <a:buSzPct val="40000"/>
              <a:buFont typeface="Zapf Dingbats" pitchFamily="1" charset="2"/>
              <a:buChar char=""/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8000"/>
              </a:buClr>
              <a:buChar char="•"/>
              <a:defRPr sz="20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000">
                <a:solidFill>
                  <a:srgbClr val="00B5D6"/>
                </a:solidFill>
                <a:latin typeface="Syntax Bold" pitchFamily="73" charset="0"/>
              </a:rPr>
              <a:t>Section 2.1</a:t>
            </a:r>
          </a:p>
        </p:txBody>
      </p:sp>
      <p:sp>
        <p:nvSpPr>
          <p:cNvPr id="19461" name="Footer Placeholder 4">
            <a:extLst>
              <a:ext uri="{FF2B5EF4-FFF2-40B4-BE49-F238E27FC236}">
                <a16:creationId xmlns:a16="http://schemas.microsoft.com/office/drawing/2014/main" id="{AFCAFF10-9AEA-CC42-7CC2-10CD81238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7AA5"/>
              </a:buClr>
              <a:buSzPct val="55000"/>
              <a:buFont typeface="Zapf Dingbats" pitchFamily="1" charset="2"/>
              <a:buChar char=""/>
              <a:defRPr sz="2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B5D6"/>
              </a:buClr>
              <a:buSzPct val="40000"/>
              <a:buFont typeface="Zapf Dingbats" pitchFamily="1" charset="2"/>
              <a:buChar char=""/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8000"/>
              </a:buClr>
              <a:buChar char="•"/>
              <a:defRPr sz="20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000">
                <a:solidFill>
                  <a:srgbClr val="00B5D6"/>
                </a:solidFill>
                <a:latin typeface="Syntax Bold" pitchFamily="73" charset="0"/>
              </a:rPr>
              <a:t>Proof Techniques</a:t>
            </a:r>
          </a:p>
        </p:txBody>
      </p:sp>
      <p:sp>
        <p:nvSpPr>
          <p:cNvPr id="19462" name="Slide Number Placeholder 5">
            <a:extLst>
              <a:ext uri="{FF2B5EF4-FFF2-40B4-BE49-F238E27FC236}">
                <a16:creationId xmlns:a16="http://schemas.microsoft.com/office/drawing/2014/main" id="{4A236AFB-111C-D103-59EF-88ECDAE3E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7AA5"/>
              </a:buClr>
              <a:buSzPct val="55000"/>
              <a:buFont typeface="Zapf Dingbats" pitchFamily="1" charset="2"/>
              <a:buChar char=""/>
              <a:defRPr sz="2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B5D6"/>
              </a:buClr>
              <a:buSzPct val="40000"/>
              <a:buFont typeface="Zapf Dingbats" pitchFamily="1" charset="2"/>
              <a:buChar char=""/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8000"/>
              </a:buClr>
              <a:buChar char="•"/>
              <a:defRPr sz="20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055116F2-41D3-419E-B718-28A40A44640D}" type="slidenum">
              <a:rPr lang="en-US" altLang="en-US" sz="1000">
                <a:solidFill>
                  <a:srgbClr val="00B5D6"/>
                </a:solidFill>
                <a:latin typeface="Syntax Bold" pitchFamily="73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13</a:t>
            </a:fld>
            <a:endParaRPr lang="en-US" altLang="en-US" sz="1000">
              <a:solidFill>
                <a:srgbClr val="00B5D6"/>
              </a:solidFill>
              <a:latin typeface="Syntax Bold" pitchFamily="73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3">
                <a:extLst>
                  <a:ext uri="{FF2B5EF4-FFF2-40B4-BE49-F238E27FC236}">
                    <a16:creationId xmlns:a16="http://schemas.microsoft.com/office/drawing/2014/main" id="{70C8F7C8-981E-9774-98C7-FA7CA396B3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500494"/>
                  </p:ext>
                </p:extLst>
              </p:nvPr>
            </p:nvGraphicFramePr>
            <p:xfrm>
              <a:off x="4035717" y="1867334"/>
              <a:ext cx="7140283" cy="237232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18659">
                      <a:extLst>
                        <a:ext uri="{9D8B030D-6E8A-4147-A177-3AD203B41FA5}">
                          <a16:colId xmlns:a16="http://schemas.microsoft.com/office/drawing/2014/main" val="2153842541"/>
                        </a:ext>
                      </a:extLst>
                    </a:gridCol>
                    <a:gridCol w="472458">
                      <a:extLst>
                        <a:ext uri="{9D8B030D-6E8A-4147-A177-3AD203B41FA5}">
                          <a16:colId xmlns:a16="http://schemas.microsoft.com/office/drawing/2014/main" val="603882309"/>
                        </a:ext>
                      </a:extLst>
                    </a:gridCol>
                    <a:gridCol w="530478">
                      <a:extLst>
                        <a:ext uri="{9D8B030D-6E8A-4147-A177-3AD203B41FA5}">
                          <a16:colId xmlns:a16="http://schemas.microsoft.com/office/drawing/2014/main" val="63635720"/>
                        </a:ext>
                      </a:extLst>
                    </a:gridCol>
                    <a:gridCol w="522190">
                      <a:extLst>
                        <a:ext uri="{9D8B030D-6E8A-4147-A177-3AD203B41FA5}">
                          <a16:colId xmlns:a16="http://schemas.microsoft.com/office/drawing/2014/main" val="2109666107"/>
                        </a:ext>
                      </a:extLst>
                    </a:gridCol>
                    <a:gridCol w="1158131">
                      <a:extLst>
                        <a:ext uri="{9D8B030D-6E8A-4147-A177-3AD203B41FA5}">
                          <a16:colId xmlns:a16="http://schemas.microsoft.com/office/drawing/2014/main" val="2068998425"/>
                        </a:ext>
                      </a:extLst>
                    </a:gridCol>
                    <a:gridCol w="876693">
                      <a:extLst>
                        <a:ext uri="{9D8B030D-6E8A-4147-A177-3AD203B41FA5}">
                          <a16:colId xmlns:a16="http://schemas.microsoft.com/office/drawing/2014/main" val="434967361"/>
                        </a:ext>
                      </a:extLst>
                    </a:gridCol>
                    <a:gridCol w="1715678">
                      <a:extLst>
                        <a:ext uri="{9D8B030D-6E8A-4147-A177-3AD203B41FA5}">
                          <a16:colId xmlns:a16="http://schemas.microsoft.com/office/drawing/2014/main" val="2319155236"/>
                        </a:ext>
                      </a:extLst>
                    </a:gridCol>
                    <a:gridCol w="1545996">
                      <a:extLst>
                        <a:ext uri="{9D8B030D-6E8A-4147-A177-3AD203B41FA5}">
                          <a16:colId xmlns:a16="http://schemas.microsoft.com/office/drawing/2014/main" val="2465545386"/>
                        </a:ext>
                      </a:extLst>
                    </a:gridCol>
                  </a:tblGrid>
                  <a:tr h="712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oMath>
                          </a14:m>
                          <a:r>
                            <a:rPr lang="en-US" altLang="en-US" dirty="0"/>
                            <a:t>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∨¬</m:t>
                              </m:r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oMath>
                          </a14:m>
                          <a:r>
                            <a:rPr lang="en-US" altLang="en-US" dirty="0"/>
                            <a:t>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oMath>
                          </a14:m>
                          <a:r>
                            <a:rPr lang="en-US" altLang="en-US" dirty="0"/>
                            <a:t> 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 →¬</m:t>
                              </m:r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∨¬</m:t>
                              </m:r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oMath>
                          </a14:m>
                          <a:r>
                            <a:rPr lang="en-US" altLang="en-US" dirty="0"/>
                            <a:t> </a:t>
                          </a:r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 →</m:t>
                              </m:r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oMath>
                          </a14:m>
                          <a:r>
                            <a:rPr lang="en-US" altLang="en-US" dirty="0"/>
                            <a:t> </a:t>
                          </a:r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2634201"/>
                      </a:ext>
                    </a:extLst>
                  </a:tr>
                  <a:tr h="4148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4290735"/>
                      </a:ext>
                    </a:extLst>
                  </a:tr>
                  <a:tr h="4148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7767170"/>
                      </a:ext>
                    </a:extLst>
                  </a:tr>
                  <a:tr h="4148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1257333"/>
                      </a:ext>
                    </a:extLst>
                  </a:tr>
                  <a:tr h="4148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99013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3">
                <a:extLst>
                  <a:ext uri="{FF2B5EF4-FFF2-40B4-BE49-F238E27FC236}">
                    <a16:creationId xmlns:a16="http://schemas.microsoft.com/office/drawing/2014/main" id="{70C8F7C8-981E-9774-98C7-FA7CA396B3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500494"/>
                  </p:ext>
                </p:extLst>
              </p:nvPr>
            </p:nvGraphicFramePr>
            <p:xfrm>
              <a:off x="4035717" y="1867334"/>
              <a:ext cx="7140283" cy="237232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18659">
                      <a:extLst>
                        <a:ext uri="{9D8B030D-6E8A-4147-A177-3AD203B41FA5}">
                          <a16:colId xmlns:a16="http://schemas.microsoft.com/office/drawing/2014/main" val="2153842541"/>
                        </a:ext>
                      </a:extLst>
                    </a:gridCol>
                    <a:gridCol w="472458">
                      <a:extLst>
                        <a:ext uri="{9D8B030D-6E8A-4147-A177-3AD203B41FA5}">
                          <a16:colId xmlns:a16="http://schemas.microsoft.com/office/drawing/2014/main" val="603882309"/>
                        </a:ext>
                      </a:extLst>
                    </a:gridCol>
                    <a:gridCol w="530478">
                      <a:extLst>
                        <a:ext uri="{9D8B030D-6E8A-4147-A177-3AD203B41FA5}">
                          <a16:colId xmlns:a16="http://schemas.microsoft.com/office/drawing/2014/main" val="63635720"/>
                        </a:ext>
                      </a:extLst>
                    </a:gridCol>
                    <a:gridCol w="522190">
                      <a:extLst>
                        <a:ext uri="{9D8B030D-6E8A-4147-A177-3AD203B41FA5}">
                          <a16:colId xmlns:a16="http://schemas.microsoft.com/office/drawing/2014/main" val="2109666107"/>
                        </a:ext>
                      </a:extLst>
                    </a:gridCol>
                    <a:gridCol w="1158131">
                      <a:extLst>
                        <a:ext uri="{9D8B030D-6E8A-4147-A177-3AD203B41FA5}">
                          <a16:colId xmlns:a16="http://schemas.microsoft.com/office/drawing/2014/main" val="2068998425"/>
                        </a:ext>
                      </a:extLst>
                    </a:gridCol>
                    <a:gridCol w="876693">
                      <a:extLst>
                        <a:ext uri="{9D8B030D-6E8A-4147-A177-3AD203B41FA5}">
                          <a16:colId xmlns:a16="http://schemas.microsoft.com/office/drawing/2014/main" val="434967361"/>
                        </a:ext>
                      </a:extLst>
                    </a:gridCol>
                    <a:gridCol w="1715678">
                      <a:extLst>
                        <a:ext uri="{9D8B030D-6E8A-4147-A177-3AD203B41FA5}">
                          <a16:colId xmlns:a16="http://schemas.microsoft.com/office/drawing/2014/main" val="2319155236"/>
                        </a:ext>
                      </a:extLst>
                    </a:gridCol>
                    <a:gridCol w="1545996">
                      <a:extLst>
                        <a:ext uri="{9D8B030D-6E8A-4147-A177-3AD203B41FA5}">
                          <a16:colId xmlns:a16="http://schemas.microsoft.com/office/drawing/2014/main" val="2465545386"/>
                        </a:ext>
                      </a:extLst>
                    </a:gridCol>
                  </a:tblGrid>
                  <a:tr h="712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1724" t="-4274" r="-1100000" b="-239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4651" t="-4274" r="-1012791" b="-239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0526" t="-4274" r="-358421" b="-239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43750" t="-4274" r="-372917" b="-239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27402" t="-4274" r="-91103" b="-239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62205" t="-4274" r="-787" b="-2393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634201"/>
                      </a:ext>
                    </a:extLst>
                  </a:tr>
                  <a:tr h="4148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4290735"/>
                      </a:ext>
                    </a:extLst>
                  </a:tr>
                  <a:tr h="4148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7767170"/>
                      </a:ext>
                    </a:extLst>
                  </a:tr>
                  <a:tr h="4148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1257333"/>
                      </a:ext>
                    </a:extLst>
                  </a:tr>
                  <a:tr h="4148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990139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229394C-0D1E-5AAA-CFE2-D79C6B98CF30}"/>
              </a:ext>
            </a:extLst>
          </p:cNvPr>
          <p:cNvSpPr txBox="1"/>
          <p:nvPr/>
        </p:nvSpPr>
        <p:spPr>
          <a:xfrm>
            <a:off x="2045617" y="5121897"/>
            <a:ext cx="8361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So </a:t>
            </a:r>
            <a:r>
              <a:rPr lang="en-US" sz="2800" dirty="0" err="1">
                <a:solidFill>
                  <a:srgbClr val="0070C0"/>
                </a:solidFill>
              </a:rPr>
              <a:t>Doof</a:t>
            </a:r>
            <a:r>
              <a:rPr lang="en-US" sz="2800" dirty="0">
                <a:solidFill>
                  <a:srgbClr val="0070C0"/>
                </a:solidFill>
              </a:rPr>
              <a:t> is a knight and Perry is a knave is consistent.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BE1B3D2-5919-DE2C-3402-1028A4089C3A}"/>
              </a:ext>
            </a:extLst>
          </p:cNvPr>
          <p:cNvSpPr/>
          <p:nvPr/>
        </p:nvSpPr>
        <p:spPr bwMode="auto">
          <a:xfrm>
            <a:off x="3497344" y="2905780"/>
            <a:ext cx="7909088" cy="52322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Futura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061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FA19FF8D-C703-50DA-5EF7-7FA089DD15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Knights and Knaves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656C6-AD1A-D3A9-AE9A-34447256DA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 err="1"/>
              <a:t>Doof</a:t>
            </a:r>
            <a:r>
              <a:rPr lang="en-US" altLang="en-US" dirty="0"/>
              <a:t> says: “At least one of is a knave.”</a:t>
            </a:r>
            <a:br>
              <a:rPr lang="en-US" altLang="en-US" dirty="0"/>
            </a:br>
            <a:r>
              <a:rPr lang="en-US" altLang="en-US" dirty="0"/>
              <a:t>Perry says nothing.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spcAft>
                <a:spcPts val="1200"/>
              </a:spcAft>
              <a:buNone/>
            </a:pPr>
            <a:r>
              <a:rPr lang="en-US" altLang="en-US" dirty="0"/>
              <a:t>Another way to think of it: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altLang="en-US" dirty="0"/>
              <a:t>If </a:t>
            </a:r>
            <a:r>
              <a:rPr lang="en-US" altLang="en-US" dirty="0" err="1"/>
              <a:t>Doof</a:t>
            </a:r>
            <a:r>
              <a:rPr lang="en-US" altLang="en-US" dirty="0"/>
              <a:t> is knight then what he says is true so Perry must be a knave. Perry says nothing so there is no contradiction there.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altLang="en-US" dirty="0"/>
              <a:t>But we have to make sure this is the only possible solution.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altLang="en-US" dirty="0"/>
              <a:t>If </a:t>
            </a:r>
            <a:r>
              <a:rPr lang="en-US" altLang="en-US" dirty="0" err="1"/>
              <a:t>Doof</a:t>
            </a:r>
            <a:r>
              <a:rPr lang="en-US" altLang="en-US" dirty="0"/>
              <a:t> is a knave then what he says is false, so there are no knaves, so </a:t>
            </a:r>
            <a:r>
              <a:rPr lang="en-US" altLang="en-US" dirty="0" err="1"/>
              <a:t>Doof</a:t>
            </a:r>
            <a:r>
              <a:rPr lang="en-US" altLang="en-US" dirty="0"/>
              <a:t> is a knight =&gt;&lt;= (contradiction)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altLang="en-US" dirty="0"/>
              <a:t>Therefore, </a:t>
            </a:r>
            <a:r>
              <a:rPr lang="en-US" altLang="en-US" dirty="0" err="1"/>
              <a:t>Doof</a:t>
            </a:r>
            <a:r>
              <a:rPr lang="en-US" altLang="en-US" dirty="0"/>
              <a:t> is a knight and Perry is a knave.</a:t>
            </a:r>
            <a:br>
              <a:rPr lang="en-US" altLang="en-US" dirty="0"/>
            </a:b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19460" name="Date Placeholder 3">
            <a:extLst>
              <a:ext uri="{FF2B5EF4-FFF2-40B4-BE49-F238E27FC236}">
                <a16:creationId xmlns:a16="http://schemas.microsoft.com/office/drawing/2014/main" id="{FAA22C0C-3D10-457B-1C53-4C124A1BAE1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7AA5"/>
              </a:buClr>
              <a:buSzPct val="55000"/>
              <a:buFont typeface="Zapf Dingbats" pitchFamily="1" charset="2"/>
              <a:buChar char=""/>
              <a:defRPr sz="2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B5D6"/>
              </a:buClr>
              <a:buSzPct val="40000"/>
              <a:buFont typeface="Zapf Dingbats" pitchFamily="1" charset="2"/>
              <a:buChar char=""/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8000"/>
              </a:buClr>
              <a:buChar char="•"/>
              <a:defRPr sz="20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000">
                <a:solidFill>
                  <a:srgbClr val="00B5D6"/>
                </a:solidFill>
                <a:latin typeface="Syntax Bold" pitchFamily="73" charset="0"/>
              </a:rPr>
              <a:t>Section 2.1</a:t>
            </a:r>
          </a:p>
        </p:txBody>
      </p:sp>
      <p:sp>
        <p:nvSpPr>
          <p:cNvPr id="19461" name="Footer Placeholder 4">
            <a:extLst>
              <a:ext uri="{FF2B5EF4-FFF2-40B4-BE49-F238E27FC236}">
                <a16:creationId xmlns:a16="http://schemas.microsoft.com/office/drawing/2014/main" id="{AFCAFF10-9AEA-CC42-7CC2-10CD81238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7AA5"/>
              </a:buClr>
              <a:buSzPct val="55000"/>
              <a:buFont typeface="Zapf Dingbats" pitchFamily="1" charset="2"/>
              <a:buChar char=""/>
              <a:defRPr sz="2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B5D6"/>
              </a:buClr>
              <a:buSzPct val="40000"/>
              <a:buFont typeface="Zapf Dingbats" pitchFamily="1" charset="2"/>
              <a:buChar char=""/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8000"/>
              </a:buClr>
              <a:buChar char="•"/>
              <a:defRPr sz="20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000">
                <a:solidFill>
                  <a:srgbClr val="00B5D6"/>
                </a:solidFill>
                <a:latin typeface="Syntax Bold" pitchFamily="73" charset="0"/>
              </a:rPr>
              <a:t>Proof Techniques</a:t>
            </a:r>
          </a:p>
        </p:txBody>
      </p:sp>
      <p:sp>
        <p:nvSpPr>
          <p:cNvPr id="19462" name="Slide Number Placeholder 5">
            <a:extLst>
              <a:ext uri="{FF2B5EF4-FFF2-40B4-BE49-F238E27FC236}">
                <a16:creationId xmlns:a16="http://schemas.microsoft.com/office/drawing/2014/main" id="{4A236AFB-111C-D103-59EF-88ECDAE3E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7AA5"/>
              </a:buClr>
              <a:buSzPct val="55000"/>
              <a:buFont typeface="Zapf Dingbats" pitchFamily="1" charset="2"/>
              <a:buChar char=""/>
              <a:defRPr sz="2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B5D6"/>
              </a:buClr>
              <a:buSzPct val="40000"/>
              <a:buFont typeface="Zapf Dingbats" pitchFamily="1" charset="2"/>
              <a:buChar char=""/>
              <a:defRPr sz="24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FF8000"/>
              </a:buClr>
              <a:buChar char="•"/>
              <a:defRPr sz="20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055116F2-41D3-419E-B718-28A40A44640D}" type="slidenum">
              <a:rPr lang="en-US" altLang="en-US" sz="1000">
                <a:solidFill>
                  <a:srgbClr val="00B5D6"/>
                </a:solidFill>
                <a:latin typeface="Syntax Bold" pitchFamily="73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14</a:t>
            </a:fld>
            <a:endParaRPr lang="en-US" altLang="en-US" sz="1000">
              <a:solidFill>
                <a:srgbClr val="00B5D6"/>
              </a:solidFill>
              <a:latin typeface="Syntax Bold" pitchFamily="7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431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A5D1A-BF68-661C-8FEE-5812BDED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803"/>
          </a:xfrm>
        </p:spPr>
        <p:txBody>
          <a:bodyPr/>
          <a:lstStyle/>
          <a:p>
            <a:r>
              <a:rPr lang="en-US" b="1" u="sng" dirty="0"/>
              <a:t>1.2 Applications of Propositional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22102-0A05-ADBA-CE16-183B2911C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170"/>
            <a:ext cx="10515600" cy="7218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Logic Circuits</a:t>
            </a:r>
          </a:p>
        </p:txBody>
      </p:sp>
      <p:pic>
        <p:nvPicPr>
          <p:cNvPr id="4" name="Google Shape;438;p67">
            <a:extLst>
              <a:ext uri="{FF2B5EF4-FFF2-40B4-BE49-F238E27FC236}">
                <a16:creationId xmlns:a16="http://schemas.microsoft.com/office/drawing/2014/main" id="{C13F6022-A236-9890-9B95-B0AC60BAD9F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25642" y="2783216"/>
            <a:ext cx="11293641" cy="17788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6719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8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Logic Circuits</a:t>
            </a:r>
            <a:endParaRPr dirty="0"/>
          </a:p>
        </p:txBody>
      </p:sp>
      <p:sp>
        <p:nvSpPr>
          <p:cNvPr id="444" name="Google Shape;444;p68"/>
          <p:cNvSpPr txBox="1"/>
          <p:nvPr/>
        </p:nvSpPr>
        <p:spPr>
          <a:xfrm>
            <a:off x="956133" y="5483567"/>
            <a:ext cx="94904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1867" kern="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Determine the output for the combinatorial circuit.</a:t>
            </a:r>
            <a:endParaRPr sz="1867" kern="0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45" name="Google Shape;44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7601" y="2878200"/>
            <a:ext cx="9613900" cy="22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68"/>
          <p:cNvSpPr/>
          <p:nvPr/>
        </p:nvSpPr>
        <p:spPr>
          <a:xfrm>
            <a:off x="5594533" y="3192800"/>
            <a:ext cx="1081200" cy="298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47" name="Google Shape;447;p68"/>
          <p:cNvSpPr/>
          <p:nvPr/>
        </p:nvSpPr>
        <p:spPr>
          <a:xfrm>
            <a:off x="3460933" y="4005600"/>
            <a:ext cx="1081200" cy="298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48" name="Google Shape;448;p68"/>
          <p:cNvSpPr/>
          <p:nvPr/>
        </p:nvSpPr>
        <p:spPr>
          <a:xfrm>
            <a:off x="3664133" y="4716800"/>
            <a:ext cx="1081200" cy="298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49" name="Google Shape;449;p68"/>
          <p:cNvSpPr/>
          <p:nvPr/>
        </p:nvSpPr>
        <p:spPr>
          <a:xfrm>
            <a:off x="8540933" y="3700800"/>
            <a:ext cx="1834400" cy="298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9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/>
              <a:t>Logic Circuits</a:t>
            </a:r>
            <a:endParaRPr/>
          </a:p>
        </p:txBody>
      </p:sp>
      <p:sp>
        <p:nvSpPr>
          <p:cNvPr id="455" name="Google Shape;455;p69"/>
          <p:cNvSpPr txBox="1"/>
          <p:nvPr/>
        </p:nvSpPr>
        <p:spPr>
          <a:xfrm>
            <a:off x="956133" y="5483567"/>
            <a:ext cx="94904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1867" kern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Determine the output for the combinatorial circuit.</a:t>
            </a:r>
            <a:endParaRPr sz="1867" kern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56" name="Google Shape;45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7601" y="2878200"/>
            <a:ext cx="9613900" cy="22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69"/>
          <p:cNvSpPr/>
          <p:nvPr/>
        </p:nvSpPr>
        <p:spPr>
          <a:xfrm>
            <a:off x="3460933" y="4005600"/>
            <a:ext cx="1081200" cy="298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58" name="Google Shape;458;p69"/>
          <p:cNvSpPr/>
          <p:nvPr/>
        </p:nvSpPr>
        <p:spPr>
          <a:xfrm>
            <a:off x="3664133" y="4716800"/>
            <a:ext cx="1081200" cy="298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59" name="Google Shape;459;p69"/>
          <p:cNvSpPr/>
          <p:nvPr/>
        </p:nvSpPr>
        <p:spPr>
          <a:xfrm>
            <a:off x="8540933" y="3700800"/>
            <a:ext cx="1834400" cy="298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0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/>
              <a:t>Logic Circuits</a:t>
            </a:r>
            <a:endParaRPr/>
          </a:p>
        </p:txBody>
      </p:sp>
      <p:sp>
        <p:nvSpPr>
          <p:cNvPr id="465" name="Google Shape;465;p70"/>
          <p:cNvSpPr txBox="1"/>
          <p:nvPr/>
        </p:nvSpPr>
        <p:spPr>
          <a:xfrm>
            <a:off x="956133" y="5483567"/>
            <a:ext cx="94904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1867" kern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Determine the output for the combinatorial circuit.</a:t>
            </a:r>
            <a:endParaRPr sz="1867" kern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66" name="Google Shape;46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7601" y="2878200"/>
            <a:ext cx="9613900" cy="22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70"/>
          <p:cNvSpPr/>
          <p:nvPr/>
        </p:nvSpPr>
        <p:spPr>
          <a:xfrm>
            <a:off x="3664133" y="4716800"/>
            <a:ext cx="1081200" cy="298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68" name="Google Shape;468;p70"/>
          <p:cNvSpPr/>
          <p:nvPr/>
        </p:nvSpPr>
        <p:spPr>
          <a:xfrm>
            <a:off x="8540933" y="3700800"/>
            <a:ext cx="1834400" cy="298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71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/>
              <a:t>Logic Circuits</a:t>
            </a:r>
            <a:endParaRPr/>
          </a:p>
        </p:txBody>
      </p:sp>
      <p:sp>
        <p:nvSpPr>
          <p:cNvPr id="474" name="Google Shape;474;p71"/>
          <p:cNvSpPr txBox="1"/>
          <p:nvPr/>
        </p:nvSpPr>
        <p:spPr>
          <a:xfrm>
            <a:off x="956133" y="5483567"/>
            <a:ext cx="94904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1867" kern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Determine the output for the combinatorial circuit.</a:t>
            </a:r>
            <a:endParaRPr sz="1867" kern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75" name="Google Shape;475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7601" y="2878200"/>
            <a:ext cx="9613900" cy="22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71"/>
          <p:cNvSpPr/>
          <p:nvPr/>
        </p:nvSpPr>
        <p:spPr>
          <a:xfrm>
            <a:off x="8540933" y="3700800"/>
            <a:ext cx="1834400" cy="298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72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/>
              <a:t>Logic Circuits</a:t>
            </a:r>
            <a:endParaRPr/>
          </a:p>
        </p:txBody>
      </p:sp>
      <p:sp>
        <p:nvSpPr>
          <p:cNvPr id="482" name="Google Shape;482;p72"/>
          <p:cNvSpPr txBox="1"/>
          <p:nvPr/>
        </p:nvSpPr>
        <p:spPr>
          <a:xfrm>
            <a:off x="956133" y="5483567"/>
            <a:ext cx="94904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1867" kern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Determine the output for the combinatorial circuit.</a:t>
            </a:r>
            <a:endParaRPr sz="1867" kern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83" name="Google Shape;48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7601" y="2878200"/>
            <a:ext cx="9613900" cy="223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73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/>
              <a:t>Logic Circuits</a:t>
            </a:r>
            <a:endParaRPr/>
          </a:p>
        </p:txBody>
      </p:sp>
      <p:sp>
        <p:nvSpPr>
          <p:cNvPr id="489" name="Google Shape;489;p73"/>
          <p:cNvSpPr txBox="1"/>
          <p:nvPr/>
        </p:nvSpPr>
        <p:spPr>
          <a:xfrm>
            <a:off x="956133" y="2537167"/>
            <a:ext cx="94904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1867" kern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Build a digital circuit that produces the output (p ν </a:t>
            </a:r>
            <a:r>
              <a:rPr lang="en" sz="1733" kern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ㄱ</a:t>
            </a:r>
            <a:r>
              <a:rPr lang="en" sz="1867" kern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r) </a:t>
            </a:r>
            <a:r>
              <a:rPr lang="en" sz="1733" kern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Λ </a:t>
            </a:r>
            <a:r>
              <a:rPr lang="en" sz="1867" kern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" sz="1733" kern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ㄱ</a:t>
            </a:r>
            <a:r>
              <a:rPr lang="en" sz="1867" kern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 ν (q ν </a:t>
            </a:r>
            <a:r>
              <a:rPr lang="en" sz="1733" kern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ㄱ</a:t>
            </a:r>
            <a:r>
              <a:rPr lang="en" sz="1867" kern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r)).</a:t>
            </a:r>
            <a:endParaRPr sz="1867" kern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4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/>
              <a:t>Logic Circuits</a:t>
            </a:r>
            <a:endParaRPr/>
          </a:p>
        </p:txBody>
      </p:sp>
      <p:sp>
        <p:nvSpPr>
          <p:cNvPr id="495" name="Google Shape;495;p74"/>
          <p:cNvSpPr txBox="1"/>
          <p:nvPr/>
        </p:nvSpPr>
        <p:spPr>
          <a:xfrm>
            <a:off x="956133" y="2537167"/>
            <a:ext cx="94904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1867" kern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Build a digital circuit that produces the output (p ν </a:t>
            </a:r>
            <a:r>
              <a:rPr lang="en" sz="1733" kern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ㄱ</a:t>
            </a:r>
            <a:r>
              <a:rPr lang="en" sz="1867" kern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r) </a:t>
            </a:r>
            <a:r>
              <a:rPr lang="en" sz="1733" kern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Λ </a:t>
            </a:r>
            <a:r>
              <a:rPr lang="en" sz="1867" kern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" sz="1733" kern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ㄱ</a:t>
            </a:r>
            <a:r>
              <a:rPr lang="en" sz="1867" kern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 ν (q ν </a:t>
            </a:r>
            <a:r>
              <a:rPr lang="en" sz="1733" kern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ㄱ</a:t>
            </a:r>
            <a:r>
              <a:rPr lang="en" sz="1867" kern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r)).</a:t>
            </a:r>
            <a:endParaRPr sz="1867" kern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96" name="Google Shape;496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3337967"/>
            <a:ext cx="11785601" cy="2824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082B1-5968-B84A-7222-1EDBC16CD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76830"/>
            <a:ext cx="10515600" cy="2570580"/>
          </a:xfrm>
        </p:spPr>
        <p:txBody>
          <a:bodyPr/>
          <a:lstStyle/>
          <a:p>
            <a:pPr algn="ctr"/>
            <a:r>
              <a:rPr lang="en-US" dirty="0"/>
              <a:t>End of Section 1.2</a:t>
            </a:r>
            <a:br>
              <a:rPr lang="en-US" dirty="0"/>
            </a:br>
            <a:r>
              <a:rPr lang="en-US" dirty="0"/>
              <a:t>Starting Section 1.3</a:t>
            </a:r>
          </a:p>
        </p:txBody>
      </p:sp>
    </p:spTree>
    <p:extLst>
      <p:ext uri="{BB962C8B-B14F-4D97-AF65-F5344CB8AC3E}">
        <p14:creationId xmlns:p14="http://schemas.microsoft.com/office/powerpoint/2010/main" val="1401786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01669" y="909405"/>
            <a:ext cx="9046797" cy="0"/>
          </a:xfrm>
          <a:custGeom>
            <a:avLst/>
            <a:gdLst/>
            <a:ahLst/>
            <a:cxnLst/>
            <a:rect l="l" t="t" r="r" b="b"/>
            <a:pathLst>
              <a:path w="9968230">
                <a:moveTo>
                  <a:pt x="0" y="0"/>
                </a:moveTo>
                <a:lnTo>
                  <a:pt x="9968230" y="0"/>
                </a:lnTo>
              </a:path>
            </a:pathLst>
          </a:custGeom>
          <a:ln w="7547">
            <a:solidFill>
              <a:srgbClr val="CC0033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091">
              <a:tabLst>
                <a:tab pos="9716280" algn="l"/>
              </a:tabLst>
            </a:pPr>
            <a:r>
              <a:rPr lang="en-US" u="none" spc="-5" dirty="0"/>
              <a:t> Two</a:t>
            </a:r>
            <a:r>
              <a:rPr u="none" spc="-14" dirty="0"/>
              <a:t> </a:t>
            </a:r>
            <a:r>
              <a:rPr u="none" spc="-5" dirty="0"/>
              <a:t>C</a:t>
            </a:r>
            <a:r>
              <a:rPr u="none" spc="9" dirty="0"/>
              <a:t>a</a:t>
            </a:r>
            <a:r>
              <a:rPr u="none" spc="-5" dirty="0"/>
              <a:t>te</a:t>
            </a:r>
            <a:r>
              <a:rPr u="none" spc="9" dirty="0"/>
              <a:t>go</a:t>
            </a:r>
            <a:r>
              <a:rPr u="none" spc="45" dirty="0"/>
              <a:t>r</a:t>
            </a:r>
            <a:r>
              <a:rPr u="none" spc="-5" dirty="0"/>
              <a:t>i</a:t>
            </a:r>
            <a:r>
              <a:rPr u="none" spc="9" dirty="0"/>
              <a:t>es</a:t>
            </a:r>
            <a:r>
              <a:rPr u="none" spc="-5" dirty="0"/>
              <a:t> </a:t>
            </a:r>
            <a:r>
              <a:rPr u="none" spc="5" dirty="0"/>
              <a:t>of</a:t>
            </a:r>
            <a:r>
              <a:rPr u="none" spc="-14" dirty="0"/>
              <a:t> </a:t>
            </a:r>
            <a:r>
              <a:rPr u="none" dirty="0"/>
              <a:t>P</a:t>
            </a:r>
            <a:r>
              <a:rPr u="none" spc="9" dirty="0"/>
              <a:t>ro</a:t>
            </a:r>
            <a:r>
              <a:rPr u="none" dirty="0"/>
              <a:t>p</a:t>
            </a:r>
            <a:r>
              <a:rPr u="none" spc="9" dirty="0"/>
              <a:t>o</a:t>
            </a:r>
            <a:r>
              <a:rPr u="none" dirty="0"/>
              <a:t>s</a:t>
            </a:r>
            <a:r>
              <a:rPr u="none" spc="-5" dirty="0"/>
              <a:t>iti</a:t>
            </a:r>
            <a:r>
              <a:rPr u="none" spc="9" dirty="0"/>
              <a:t>o</a:t>
            </a:r>
            <a:r>
              <a:rPr u="none" dirty="0"/>
              <a:t>n</a:t>
            </a:r>
            <a:r>
              <a:rPr u="none" spc="9" dirty="0"/>
              <a:t>s</a:t>
            </a:r>
            <a:r>
              <a:rPr u="none" spc="5" dirty="0"/>
              <a:t> </a:t>
            </a:r>
            <a:r>
              <a:rPr u="none" dirty="0"/>
              <a:t>	</a:t>
            </a:r>
          </a:p>
        </p:txBody>
      </p:sp>
      <p:sp>
        <p:nvSpPr>
          <p:cNvPr id="4" name="object 4"/>
          <p:cNvSpPr/>
          <p:nvPr/>
        </p:nvSpPr>
        <p:spPr>
          <a:xfrm>
            <a:off x="2269351" y="1478793"/>
            <a:ext cx="8132781" cy="8390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69351" y="2973721"/>
            <a:ext cx="8132781" cy="8390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69351" y="4523975"/>
            <a:ext cx="8132781" cy="15110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57826" y="1157215"/>
            <a:ext cx="7704588" cy="3135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27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78" b="1" i="0" u="none" strike="noStrike" kern="1200" cap="none" spc="18" normalizeH="0" baseline="0" noProof="0" dirty="0">
                <a:ln>
                  <a:noFill/>
                </a:ln>
                <a:solidFill>
                  <a:srgbClr val="7F00CC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</a:t>
            </a:r>
            <a:r>
              <a:rPr kumimoji="0" sz="2178" b="1" i="0" u="none" strike="noStrike" kern="1200" cap="none" spc="141" normalizeH="0" baseline="0" noProof="0" dirty="0">
                <a:ln>
                  <a:noFill/>
                </a:ln>
                <a:solidFill>
                  <a:srgbClr val="7F00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ﬁ</a:t>
            </a:r>
            <a:r>
              <a:rPr kumimoji="0" sz="2178" b="1" i="0" u="none" strike="noStrike" kern="1200" cap="none" spc="14" normalizeH="0" baseline="0" noProof="0" dirty="0">
                <a:ln>
                  <a:noFill/>
                </a:ln>
                <a:solidFill>
                  <a:srgbClr val="7F00CC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</a:t>
            </a:r>
            <a:r>
              <a:rPr kumimoji="0" sz="2178" b="1" i="0" u="none" strike="noStrike" kern="1200" cap="none" spc="9" normalizeH="0" baseline="0" noProof="0" dirty="0">
                <a:ln>
                  <a:noFill/>
                </a:ln>
                <a:solidFill>
                  <a:srgbClr val="7F00CC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</a:t>
            </a:r>
            <a:r>
              <a:rPr kumimoji="0" sz="2178" b="1" i="0" u="none" strike="noStrike" kern="1200" cap="none" spc="14" normalizeH="0" baseline="0" noProof="0" dirty="0">
                <a:ln>
                  <a:noFill/>
                </a:ln>
                <a:solidFill>
                  <a:srgbClr val="7F00CC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</a:t>
            </a:r>
            <a:r>
              <a:rPr kumimoji="0" sz="2178" b="1" i="0" u="none" strike="noStrike" kern="1200" cap="none" spc="9" normalizeH="0" baseline="0" noProof="0" dirty="0">
                <a:ln>
                  <a:noFill/>
                </a:ln>
                <a:solidFill>
                  <a:srgbClr val="7F00CC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</a:t>
            </a:r>
            <a:r>
              <a:rPr kumimoji="0" sz="2178" b="1" i="0" u="none" strike="noStrike" kern="1200" cap="none" spc="14" normalizeH="0" baseline="0" noProof="0" dirty="0">
                <a:ln>
                  <a:noFill/>
                </a:ln>
                <a:solidFill>
                  <a:srgbClr val="7F00CC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</a:t>
            </a:r>
            <a:r>
              <a:rPr kumimoji="0" sz="2178" b="1" i="0" u="none" strike="noStrike" kern="1200" cap="none" spc="9" normalizeH="0" baseline="0" noProof="0" dirty="0">
                <a:ln>
                  <a:noFill/>
                </a:ln>
                <a:solidFill>
                  <a:srgbClr val="7F00CC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:</a:t>
            </a:r>
            <a:r>
              <a:rPr kumimoji="0" sz="2178" b="1" i="0" u="none" strike="noStrike" kern="1200" cap="none" spc="145" normalizeH="0" baseline="0" noProof="0" dirty="0">
                <a:ln>
                  <a:noFill/>
                </a:ln>
                <a:solidFill>
                  <a:srgbClr val="7F00CC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178" b="1" i="0" u="none" strike="noStrike" kern="1200" cap="none" spc="-159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</a:t>
            </a:r>
            <a:r>
              <a:rPr kumimoji="0" sz="2178" b="1" i="0" u="none" strike="noStrike" kern="1200" cap="none" spc="9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sz="2178" b="1" i="0" u="none" strike="noStrike" kern="1200" cap="none" spc="14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ut</a:t>
            </a:r>
            <a:r>
              <a:rPr kumimoji="0" sz="2178" b="1" i="0" u="none" strike="noStrike" kern="1200" cap="none" spc="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</a:t>
            </a:r>
            <a:r>
              <a:rPr kumimoji="0" sz="2178" b="1" i="0" u="none" strike="noStrike" kern="1200" cap="none" spc="18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</a:t>
            </a:r>
            <a:r>
              <a:rPr kumimoji="0" sz="2178" b="1" i="0" u="none" strike="noStrike" kern="1200" cap="none" spc="14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</a:t>
            </a:r>
            <a:r>
              <a:rPr kumimoji="0" sz="2178" b="1" i="0" u="none" strike="noStrike" kern="1200" cap="none" spc="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g</a:t>
            </a:r>
            <a:r>
              <a:rPr kumimoji="0" sz="2178" b="1" i="0" u="none" strike="noStrike" kern="1200" cap="none" spc="18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y</a:t>
            </a:r>
            <a:endParaRPr kumimoji="0" sz="21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39175" marR="0" lvl="0" indent="0" algn="l" defTabSz="914400" rtl="0" eaLnBrk="1" fontAlgn="auto" latinLnBrk="0" hangingPunct="1">
              <a:lnSpc>
                <a:spcPct val="100000"/>
              </a:lnSpc>
              <a:spcBef>
                <a:spcPts val="97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78" b="1" i="0" u="none" strike="noStrike" kern="1200" cap="none" spc="23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sz="2178" b="1" i="0" u="none" strike="noStrike" kern="1200" cap="none" spc="9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178" b="1" i="0" u="none" strike="noStrike" kern="1200" cap="none" spc="14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</a:t>
            </a:r>
            <a:r>
              <a:rPr kumimoji="0" sz="2178" b="1" i="0" u="none" strike="noStrike" kern="1200" cap="none" spc="-41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</a:t>
            </a:r>
            <a:r>
              <a:rPr kumimoji="0" sz="2178" b="1" i="0" u="none" strike="noStrike" kern="1200" cap="none" spc="14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opo</a:t>
            </a:r>
            <a:r>
              <a:rPr kumimoji="0" sz="2178" b="1" i="0" u="none" strike="noStrike" kern="1200" cap="none" spc="9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</a:t>
            </a:r>
            <a:r>
              <a:rPr kumimoji="0" sz="2178" b="1" i="0" u="none" strike="noStrike" kern="1200" cap="none" spc="18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</a:t>
            </a:r>
            <a:r>
              <a:rPr kumimoji="0" sz="2178" b="1" i="0" u="none" strike="noStrike" kern="1200" cap="none" spc="14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</a:t>
            </a:r>
            <a:r>
              <a:rPr kumimoji="0" sz="2178" b="1" i="0" u="none" strike="noStrike" kern="1200" cap="none" spc="9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</a:t>
            </a:r>
            <a:r>
              <a:rPr kumimoji="0" sz="2178" b="1" i="0" u="none" strike="noStrike" kern="1200" cap="none" spc="14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</a:t>
            </a:r>
            <a:r>
              <a:rPr kumimoji="0" sz="2178" b="1" i="0" u="none" strike="noStrike" kern="1200" cap="none" spc="18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</a:t>
            </a:r>
            <a:r>
              <a:rPr kumimoji="0" sz="2178" b="1" i="0" u="none" strike="noStrike" kern="1200" cap="none" spc="9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th</a:t>
            </a:r>
            <a:r>
              <a:rPr kumimoji="0" sz="2178" b="1" i="0" u="none" strike="noStrike" kern="1200" cap="none" spc="14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</a:t>
            </a:r>
            <a:r>
              <a:rPr kumimoji="0" sz="2178" b="1" i="0" u="none" strike="noStrike" kern="1200" cap="none" spc="9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a</a:t>
            </a:r>
            <a:r>
              <a:rPr kumimoji="0" sz="2178" b="1" i="0" u="none" strike="noStrike" kern="1200" cap="none" spc="-18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</a:t>
            </a:r>
            <a:r>
              <a:rPr kumimoji="0" sz="2178" b="1" i="0" u="none" strike="noStrike" kern="1200" cap="none" spc="27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</a:t>
            </a:r>
            <a:r>
              <a:rPr kumimoji="0" sz="2178" b="1" i="0" u="none" strike="noStrike" kern="1200" cap="none" spc="-36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sz="2178" b="1" i="0" u="none" strike="noStrike" kern="1200" cap="none" spc="18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ys</a:t>
            </a:r>
            <a:r>
              <a:rPr kumimoji="0" sz="2178" b="1" i="0" u="none" strike="noStrike" kern="1200" cap="none" spc="14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178" b="1" i="0" u="none" strike="noStrike" kern="1200" cap="none" spc="-18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</a:t>
            </a:r>
            <a:r>
              <a:rPr kumimoji="0" sz="2178" b="1" i="0" u="none" strike="noStrike" kern="1200" cap="none" spc="-27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</a:t>
            </a:r>
            <a:r>
              <a:rPr kumimoji="0" sz="2178" b="1" i="0" u="none" strike="noStrike" kern="1200" cap="none" spc="9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sz="2178" b="1" i="0" u="none" strike="noStrike" kern="1200" cap="none" spc="18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</a:t>
            </a:r>
            <a:r>
              <a:rPr kumimoji="0" sz="2178" b="1" i="0" u="none" strike="noStrike" kern="1200" cap="none" spc="14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</a:t>
            </a:r>
            <a:r>
              <a:rPr kumimoji="0" sz="2178" b="1" i="0" u="none" strike="noStrike" kern="1200" cap="none" spc="9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sz="2178" b="1" i="0" u="none" strike="noStrike" kern="1200" cap="none" spc="14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</a:t>
            </a:r>
            <a:r>
              <a:rPr kumimoji="0" sz="2178" b="1" i="0" u="none" strike="noStrike" kern="1200" cap="none" spc="18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es</a:t>
            </a:r>
            <a:r>
              <a:rPr kumimoji="0" sz="2178" b="1" i="0" u="none" strike="noStrike" kern="1200" cap="none" spc="-5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178" b="1" i="0" u="none" strike="noStrike" kern="1200" cap="none" spc="14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</a:t>
            </a:r>
            <a:r>
              <a:rPr kumimoji="0" sz="2178" b="1" i="0" u="none" strike="noStrike" kern="1200" cap="none" spc="18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</a:t>
            </a:r>
            <a:r>
              <a:rPr kumimoji="0" sz="2178" b="1" i="0" u="none" strike="noStrike" kern="1200" cap="none" spc="0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178" b="1" i="0" u="none" strike="noStrike" kern="1200" cap="none" spc="5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</a:t>
            </a:r>
            <a:r>
              <a:rPr kumimoji="0" sz="2178" b="1" i="0" u="none" strike="noStrike" kern="1200" cap="none" spc="14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ru</a:t>
            </a:r>
            <a:r>
              <a:rPr kumimoji="0" sz="2178" b="1" i="0" u="none" strike="noStrike" kern="1200" cap="none" spc="64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</a:t>
            </a:r>
            <a:r>
              <a:rPr kumimoji="0" sz="2178" b="1" i="0" u="none" strike="noStrike" kern="1200" cap="none" spc="9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  <a:endParaRPr kumimoji="0" sz="21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9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1527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78" b="1" i="0" u="none" strike="noStrike" kern="1200" cap="none" spc="18" normalizeH="0" baseline="0" noProof="0" dirty="0">
                <a:ln>
                  <a:noFill/>
                </a:ln>
                <a:solidFill>
                  <a:srgbClr val="7F00CC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</a:t>
            </a:r>
            <a:r>
              <a:rPr kumimoji="0" sz="2178" b="1" i="0" u="none" strike="noStrike" kern="1200" cap="none" spc="141" normalizeH="0" baseline="0" noProof="0" dirty="0">
                <a:ln>
                  <a:noFill/>
                </a:ln>
                <a:solidFill>
                  <a:srgbClr val="7F00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ﬁ</a:t>
            </a:r>
            <a:r>
              <a:rPr kumimoji="0" sz="2178" b="1" i="0" u="none" strike="noStrike" kern="1200" cap="none" spc="14" normalizeH="0" baseline="0" noProof="0" dirty="0">
                <a:ln>
                  <a:noFill/>
                </a:ln>
                <a:solidFill>
                  <a:srgbClr val="7F00CC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</a:t>
            </a:r>
            <a:r>
              <a:rPr kumimoji="0" sz="2178" b="1" i="0" u="none" strike="noStrike" kern="1200" cap="none" spc="9" normalizeH="0" baseline="0" noProof="0" dirty="0">
                <a:ln>
                  <a:noFill/>
                </a:ln>
                <a:solidFill>
                  <a:srgbClr val="7F00CC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</a:t>
            </a:r>
            <a:r>
              <a:rPr kumimoji="0" sz="2178" b="1" i="0" u="none" strike="noStrike" kern="1200" cap="none" spc="14" normalizeH="0" baseline="0" noProof="0" dirty="0">
                <a:ln>
                  <a:noFill/>
                </a:ln>
                <a:solidFill>
                  <a:srgbClr val="7F00CC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</a:t>
            </a:r>
            <a:r>
              <a:rPr kumimoji="0" sz="2178" b="1" i="0" u="none" strike="noStrike" kern="1200" cap="none" spc="9" normalizeH="0" baseline="0" noProof="0" dirty="0">
                <a:ln>
                  <a:noFill/>
                </a:ln>
                <a:solidFill>
                  <a:srgbClr val="7F00CC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</a:t>
            </a:r>
            <a:r>
              <a:rPr kumimoji="0" sz="2178" b="1" i="0" u="none" strike="noStrike" kern="1200" cap="none" spc="14" normalizeH="0" baseline="0" noProof="0" dirty="0">
                <a:ln>
                  <a:noFill/>
                </a:ln>
                <a:solidFill>
                  <a:srgbClr val="7F00CC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</a:t>
            </a:r>
            <a:r>
              <a:rPr kumimoji="0" sz="2178" b="1" i="0" u="none" strike="noStrike" kern="1200" cap="none" spc="9" normalizeH="0" baseline="0" noProof="0" dirty="0">
                <a:ln>
                  <a:noFill/>
                </a:ln>
                <a:solidFill>
                  <a:srgbClr val="7F00CC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:</a:t>
            </a:r>
            <a:r>
              <a:rPr kumimoji="0" sz="2178" b="1" i="0" u="none" strike="noStrike" kern="1200" cap="none" spc="145" normalizeH="0" baseline="0" noProof="0" dirty="0">
                <a:ln>
                  <a:noFill/>
                </a:ln>
                <a:solidFill>
                  <a:srgbClr val="7F00CC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178" b="1" i="0" u="none" strike="noStrike" kern="1200" cap="none" spc="18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</a:t>
            </a:r>
            <a:r>
              <a:rPr kumimoji="0" sz="2178" b="1" i="0" u="none" strike="noStrike" kern="1200" cap="none" spc="14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</a:t>
            </a:r>
            <a:r>
              <a:rPr kumimoji="0" sz="2178" b="1" i="0" u="none" strike="noStrike" kern="1200" cap="none" spc="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</a:t>
            </a:r>
            <a:r>
              <a:rPr kumimoji="0" sz="2178" b="1" i="0" u="none" strike="noStrike" kern="1200" cap="none" spc="18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sz="2178" b="1" i="0" u="none" strike="noStrike" kern="1200" cap="none" spc="14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dic</a:t>
            </a:r>
            <a:r>
              <a:rPr kumimoji="0" sz="2178" b="1" i="0" u="none" strike="noStrike" kern="1200" cap="none" spc="5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</a:t>
            </a:r>
            <a:r>
              <a:rPr kumimoji="0" sz="2178" b="1" i="0" u="none" strike="noStrike" kern="1200" cap="none" spc="18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</a:t>
            </a:r>
            <a:r>
              <a:rPr kumimoji="0" sz="2178" b="1" i="0" u="none" strike="noStrike" kern="1200" cap="none" spc="14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</a:t>
            </a:r>
            <a:r>
              <a:rPr kumimoji="0" sz="2178" b="1" i="0" u="none" strike="noStrike" kern="1200" cap="none" spc="18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</a:t>
            </a:r>
            <a:endParaRPr kumimoji="0" sz="21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39175" marR="0" lvl="0" indent="0" algn="l" defTabSz="914400" rtl="0" eaLnBrk="1" fontAlgn="auto" latinLnBrk="0" hangingPunct="1">
              <a:lnSpc>
                <a:spcPct val="100000"/>
              </a:lnSpc>
              <a:spcBef>
                <a:spcPts val="71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24" b="1" i="0" u="none" strike="noStrike" kern="1200" cap="none" spc="-9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sz="2224" b="1" i="0" u="none" strike="noStrike" kern="1200" cap="none" spc="-5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24" b="1" i="0" u="none" strike="noStrike" kern="1200" cap="none" spc="-14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</a:t>
            </a:r>
            <a:r>
              <a:rPr kumimoji="0" sz="2224" b="1" i="0" u="none" strike="noStrike" kern="1200" cap="none" spc="-59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</a:t>
            </a:r>
            <a:r>
              <a:rPr kumimoji="0" sz="2178" b="1" i="0" u="none" strike="noStrike" kern="1200" cap="none" spc="14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</a:t>
            </a:r>
            <a:r>
              <a:rPr kumimoji="0" sz="2224" b="1" i="0" u="none" strike="noStrike" kern="1200" cap="none" spc="-14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po</a:t>
            </a:r>
            <a:r>
              <a:rPr kumimoji="0" sz="2224" b="1" i="0" u="none" strike="noStrike" kern="1200" cap="none" spc="-18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</a:t>
            </a:r>
            <a:r>
              <a:rPr kumimoji="0" sz="2224" b="1" i="0" u="none" strike="noStrike" kern="1200" cap="none" spc="0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it</a:t>
            </a:r>
            <a:r>
              <a:rPr kumimoji="0" sz="2224" b="1" i="0" u="none" strike="noStrike" kern="1200" cap="none" spc="-5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</a:t>
            </a:r>
            <a:r>
              <a:rPr kumimoji="0" sz="2224" b="1" i="0" u="none" strike="noStrike" kern="1200" cap="none" spc="-14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</a:t>
            </a:r>
            <a:r>
              <a:rPr kumimoji="0" sz="2178" b="1" i="0" u="none" strike="noStrike" kern="1200" cap="none" spc="18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</a:t>
            </a:r>
            <a:r>
              <a:rPr kumimoji="0" sz="2178" b="1" i="0" u="none" strike="noStrike" kern="1200" cap="none" spc="9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24" b="1" i="0" u="none" strike="noStrike" kern="1200" cap="none" spc="-9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</a:t>
            </a:r>
            <a:r>
              <a:rPr kumimoji="0" sz="2224" b="1" i="0" u="none" strike="noStrike" kern="1200" cap="none" spc="-5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 </a:t>
            </a:r>
            <a:r>
              <a:rPr kumimoji="0" sz="2224" b="1" i="0" u="none" strike="noStrike" kern="1200" cap="none" spc="-18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sz="2224" b="1" i="0" u="none" strike="noStrike" kern="1200" cap="none" spc="-32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</a:t>
            </a:r>
            <a:r>
              <a:rPr kumimoji="0" sz="2224" b="1" i="0" u="none" strike="noStrike" kern="1200" cap="none" spc="-9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</a:t>
            </a:r>
            <a:r>
              <a:rPr kumimoji="0" sz="2224" b="1" i="0" u="none" strike="noStrike" kern="1200" cap="none" spc="-64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sz="2224" b="1" i="0" u="none" strike="noStrike" kern="1200" cap="none" spc="-9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ys</a:t>
            </a:r>
            <a:r>
              <a:rPr kumimoji="0" sz="2224" b="1" i="0" u="none" strike="noStrike" kern="1200" cap="none" spc="0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24" b="1" i="0" u="none" strike="noStrike" kern="1200" cap="none" spc="-45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</a:t>
            </a:r>
            <a:r>
              <a:rPr kumimoji="0" sz="2224" b="1" i="0" u="none" strike="noStrike" kern="1200" cap="none" spc="-54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</a:t>
            </a:r>
            <a:r>
              <a:rPr kumimoji="0" sz="2178" b="1" i="0" u="none" strike="noStrike" kern="1200" cap="none" spc="9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sz="2178" b="1" i="0" u="none" strike="noStrike" kern="1200" cap="none" spc="18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</a:t>
            </a:r>
            <a:r>
              <a:rPr kumimoji="0" sz="2224" b="1" i="0" u="none" strike="noStrike" kern="1200" cap="none" spc="-14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</a:t>
            </a:r>
            <a:r>
              <a:rPr kumimoji="0" sz="2224" b="1" i="0" u="none" strike="noStrike" kern="1200" cap="none" spc="-18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sz="2224" b="1" i="0" u="none" strike="noStrike" kern="1200" cap="none" spc="0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</a:t>
            </a:r>
            <a:r>
              <a:rPr kumimoji="0" sz="2178" b="1" i="0" u="none" strike="noStrike" kern="1200" cap="none" spc="18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</a:t>
            </a:r>
            <a:r>
              <a:rPr kumimoji="0" sz="2224" b="1" i="0" u="none" strike="noStrike" kern="1200" cap="none" spc="-9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</a:t>
            </a:r>
            <a:r>
              <a:rPr kumimoji="0" sz="2224" b="1" i="0" u="none" strike="noStrike" kern="1200" cap="none" spc="-18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24" b="1" i="0" u="none" strike="noStrike" kern="1200" cap="none" spc="0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</a:t>
            </a:r>
            <a:r>
              <a:rPr kumimoji="0" sz="2178" b="1" i="0" u="none" strike="noStrike" kern="1200" cap="none" spc="18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</a:t>
            </a:r>
            <a:r>
              <a:rPr kumimoji="0" sz="2178" b="1" i="0" u="none" strike="noStrike" kern="1200" cap="none" spc="0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24" b="1" i="0" u="none" strike="noStrike" kern="1200" cap="none" spc="-9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fa</a:t>
            </a:r>
            <a:r>
              <a:rPr kumimoji="0" sz="2224" b="1" i="0" u="none" strike="noStrike" kern="1200" cap="none" spc="0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</a:t>
            </a:r>
            <a:r>
              <a:rPr kumimoji="0" sz="2224" b="1" i="0" u="none" strike="noStrike" kern="1200" cap="none" spc="-18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</a:t>
            </a:r>
            <a:r>
              <a:rPr kumimoji="0" sz="2224" b="1" i="0" u="none" strike="noStrike" kern="1200" cap="none" spc="23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</a:t>
            </a:r>
            <a:r>
              <a:rPr kumimoji="0" sz="2224" b="1" i="0" u="none" strike="noStrike" kern="1200" cap="none" spc="-5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  <a:endParaRPr kumimoji="0" sz="222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7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76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959179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01669" y="909405"/>
            <a:ext cx="9046797" cy="0"/>
          </a:xfrm>
          <a:custGeom>
            <a:avLst/>
            <a:gdLst/>
            <a:ahLst/>
            <a:cxnLst/>
            <a:rect l="l" t="t" r="r" b="b"/>
            <a:pathLst>
              <a:path w="9968230">
                <a:moveTo>
                  <a:pt x="0" y="0"/>
                </a:moveTo>
                <a:lnTo>
                  <a:pt x="9968230" y="0"/>
                </a:lnTo>
              </a:path>
            </a:pathLst>
          </a:custGeom>
          <a:ln w="7547">
            <a:solidFill>
              <a:srgbClr val="CC0033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091">
              <a:tabLst>
                <a:tab pos="9716280" algn="l"/>
              </a:tabLst>
            </a:pPr>
            <a:r>
              <a:rPr lang="en-US" u="none" spc="-5" dirty="0"/>
              <a:t> Two</a:t>
            </a:r>
            <a:r>
              <a:rPr u="none" spc="-14" dirty="0"/>
              <a:t> </a:t>
            </a:r>
            <a:r>
              <a:rPr u="none" spc="-5" dirty="0"/>
              <a:t>C</a:t>
            </a:r>
            <a:r>
              <a:rPr u="none" spc="9" dirty="0"/>
              <a:t>a</a:t>
            </a:r>
            <a:r>
              <a:rPr u="none" spc="-5" dirty="0"/>
              <a:t>te</a:t>
            </a:r>
            <a:r>
              <a:rPr u="none" spc="9" dirty="0"/>
              <a:t>go</a:t>
            </a:r>
            <a:r>
              <a:rPr u="none" spc="45" dirty="0"/>
              <a:t>r</a:t>
            </a:r>
            <a:r>
              <a:rPr u="none" spc="-5" dirty="0"/>
              <a:t>i</a:t>
            </a:r>
            <a:r>
              <a:rPr u="none" spc="9" dirty="0"/>
              <a:t>es</a:t>
            </a:r>
            <a:r>
              <a:rPr u="none" spc="-5" dirty="0"/>
              <a:t> </a:t>
            </a:r>
            <a:r>
              <a:rPr u="none" spc="5" dirty="0"/>
              <a:t>of</a:t>
            </a:r>
            <a:r>
              <a:rPr u="none" spc="-14" dirty="0"/>
              <a:t> </a:t>
            </a:r>
            <a:r>
              <a:rPr u="none" dirty="0"/>
              <a:t>P</a:t>
            </a:r>
            <a:r>
              <a:rPr u="none" spc="9" dirty="0"/>
              <a:t>ro</a:t>
            </a:r>
            <a:r>
              <a:rPr u="none" dirty="0"/>
              <a:t>p</a:t>
            </a:r>
            <a:r>
              <a:rPr u="none" spc="9" dirty="0"/>
              <a:t>o</a:t>
            </a:r>
            <a:r>
              <a:rPr u="none" dirty="0"/>
              <a:t>s</a:t>
            </a:r>
            <a:r>
              <a:rPr u="none" spc="-5" dirty="0"/>
              <a:t>iti</a:t>
            </a:r>
            <a:r>
              <a:rPr u="none" spc="9" dirty="0"/>
              <a:t>o</a:t>
            </a:r>
            <a:r>
              <a:rPr u="none" dirty="0"/>
              <a:t>n</a:t>
            </a:r>
            <a:r>
              <a:rPr u="none" spc="9" dirty="0"/>
              <a:t>s</a:t>
            </a:r>
            <a:r>
              <a:rPr u="none" spc="5" dirty="0"/>
              <a:t> </a:t>
            </a:r>
            <a:r>
              <a:rPr u="none" dirty="0"/>
              <a:t>	</a:t>
            </a:r>
          </a:p>
        </p:txBody>
      </p:sp>
      <p:sp>
        <p:nvSpPr>
          <p:cNvPr id="4" name="object 4"/>
          <p:cNvSpPr/>
          <p:nvPr/>
        </p:nvSpPr>
        <p:spPr>
          <a:xfrm>
            <a:off x="2269351" y="1478793"/>
            <a:ext cx="8132781" cy="8390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69351" y="2973721"/>
            <a:ext cx="8132781" cy="8390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69351" y="4523975"/>
            <a:ext cx="8132781" cy="15110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>
              <a:xfrm>
                <a:off x="2257826" y="1157215"/>
                <a:ext cx="7704588" cy="313573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1527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178" b="1" i="0" u="none" strike="noStrike" kern="1200" cap="none" spc="18" normalizeH="0" baseline="0" noProof="0" dirty="0">
                    <a:ln>
                      <a:noFill/>
                    </a:ln>
                    <a:solidFill>
                      <a:srgbClr val="7F00CC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De</a:t>
                </a:r>
                <a:r>
                  <a:rPr kumimoji="0" sz="2178" b="1" i="0" u="none" strike="noStrike" kern="1200" cap="none" spc="141" normalizeH="0" baseline="0" noProof="0" dirty="0">
                    <a:ln>
                      <a:noFill/>
                    </a:ln>
                    <a:solidFill>
                      <a:srgbClr val="7F00CC"/>
                    </a:solidFill>
                    <a:effectLst/>
                    <a:uLnTx/>
                    <a:uFillTx/>
                    <a:latin typeface="Calibri"/>
                    <a:ea typeface="+mn-ea"/>
                    <a:cs typeface="Calibri"/>
                  </a:rPr>
                  <a:t>ﬁ</a:t>
                </a:r>
                <a:r>
                  <a:rPr kumimoji="0" sz="2178" b="1" i="0" u="none" strike="noStrike" kern="1200" cap="none" spc="14" normalizeH="0" baseline="0" noProof="0" dirty="0">
                    <a:ln>
                      <a:noFill/>
                    </a:ln>
                    <a:solidFill>
                      <a:srgbClr val="7F00CC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n</a:t>
                </a:r>
                <a:r>
                  <a:rPr kumimoji="0" sz="2178" b="1" i="0" u="none" strike="noStrike" kern="1200" cap="none" spc="9" normalizeH="0" baseline="0" noProof="0" dirty="0">
                    <a:ln>
                      <a:noFill/>
                    </a:ln>
                    <a:solidFill>
                      <a:srgbClr val="7F00CC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i</a:t>
                </a:r>
                <a:r>
                  <a:rPr kumimoji="0" sz="2178" b="1" i="0" u="none" strike="noStrike" kern="1200" cap="none" spc="14" normalizeH="0" baseline="0" noProof="0" dirty="0">
                    <a:ln>
                      <a:noFill/>
                    </a:ln>
                    <a:solidFill>
                      <a:srgbClr val="7F00CC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t</a:t>
                </a:r>
                <a:r>
                  <a:rPr kumimoji="0" sz="2178" b="1" i="0" u="none" strike="noStrike" kern="1200" cap="none" spc="9" normalizeH="0" baseline="0" noProof="0" dirty="0">
                    <a:ln>
                      <a:noFill/>
                    </a:ln>
                    <a:solidFill>
                      <a:srgbClr val="7F00CC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i</a:t>
                </a:r>
                <a:r>
                  <a:rPr kumimoji="0" sz="2178" b="1" i="0" u="none" strike="noStrike" kern="1200" cap="none" spc="14" normalizeH="0" baseline="0" noProof="0" dirty="0">
                    <a:ln>
                      <a:noFill/>
                    </a:ln>
                    <a:solidFill>
                      <a:srgbClr val="7F00CC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on</a:t>
                </a:r>
                <a:r>
                  <a:rPr kumimoji="0" sz="2178" b="1" i="0" u="none" strike="noStrike" kern="1200" cap="none" spc="9" normalizeH="0" baseline="0" noProof="0" dirty="0">
                    <a:ln>
                      <a:noFill/>
                    </a:ln>
                    <a:solidFill>
                      <a:srgbClr val="7F00CC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:</a:t>
                </a:r>
                <a:r>
                  <a:rPr kumimoji="0" sz="2178" b="1" i="0" u="none" strike="noStrike" kern="1200" cap="none" spc="145" normalizeH="0" baseline="0" noProof="0" dirty="0">
                    <a:ln>
                      <a:noFill/>
                    </a:ln>
                    <a:solidFill>
                      <a:srgbClr val="7F00CC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 </a:t>
                </a:r>
                <a:r>
                  <a:rPr kumimoji="0" sz="2178" b="1" i="0" u="none" strike="noStrike" kern="1200" cap="none" spc="-159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T</a:t>
                </a:r>
                <a:r>
                  <a:rPr kumimoji="0" sz="2178" b="1" i="0" u="none" strike="noStrike" kern="1200" cap="none" spc="9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a</a:t>
                </a:r>
                <a:r>
                  <a:rPr kumimoji="0" sz="2178" b="1" i="0" u="none" strike="noStrike" kern="1200" cap="none" spc="14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ut</a:t>
                </a:r>
                <a:r>
                  <a:rPr kumimoji="0" sz="2178" b="1" i="0" u="none" strike="noStrike" kern="1200" cap="none" spc="5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o</a:t>
                </a:r>
                <a:r>
                  <a:rPr kumimoji="0" sz="2178" b="1" i="0" u="none" strike="noStrike" kern="1200" cap="none" spc="18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l</a:t>
                </a:r>
                <a:r>
                  <a:rPr kumimoji="0" sz="2178" b="1" i="0" u="none" strike="noStrike" kern="1200" cap="none" spc="14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o</a:t>
                </a:r>
                <a:r>
                  <a:rPr kumimoji="0" sz="2178" b="1" i="0" u="none" strike="noStrike" kern="1200" cap="none" spc="5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g</a:t>
                </a:r>
                <a:r>
                  <a:rPr kumimoji="0" sz="2178" b="1" i="0" u="none" strike="noStrike" kern="1200" cap="none" spc="18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y</a:t>
                </a:r>
                <a:endParaRPr kumimoji="0" sz="2178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  <a:p>
                <a:pPr marL="239175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971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178" b="1" i="0" u="none" strike="noStrike" kern="1200" cap="none" spc="23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A</a:t>
                </a:r>
                <a:r>
                  <a:rPr kumimoji="0" sz="2178" b="1" i="0" u="none" strike="noStrike" kern="1200" cap="none" spc="9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 </a:t>
                </a:r>
                <a:r>
                  <a:rPr kumimoji="0" sz="2178" b="1" i="0" u="none" strike="noStrike" kern="1200" cap="none" spc="14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p</a:t>
                </a:r>
                <a:r>
                  <a:rPr kumimoji="0" sz="2178" b="1" i="0" u="none" strike="noStrike" kern="1200" cap="none" spc="-41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r</a:t>
                </a:r>
                <a:r>
                  <a:rPr kumimoji="0" sz="2178" b="1" i="0" u="none" strike="noStrike" kern="1200" cap="none" spc="14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opo</a:t>
                </a:r>
                <a:r>
                  <a:rPr kumimoji="0" sz="2178" b="1" i="0" u="none" strike="noStrike" kern="1200" cap="none" spc="9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s</a:t>
                </a:r>
                <a:r>
                  <a:rPr kumimoji="0" sz="2178" b="1" i="0" u="none" strike="noStrike" kern="1200" cap="none" spc="18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i</a:t>
                </a:r>
                <a:r>
                  <a:rPr kumimoji="0" sz="2178" b="1" i="0" u="none" strike="noStrike" kern="1200" cap="none" spc="14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t</a:t>
                </a:r>
                <a:r>
                  <a:rPr kumimoji="0" sz="2178" b="1" i="0" u="none" strike="noStrike" kern="1200" cap="none" spc="9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i</a:t>
                </a:r>
                <a:r>
                  <a:rPr kumimoji="0" sz="2178" b="1" i="0" u="none" strike="noStrike" kern="1200" cap="none" spc="14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o</a:t>
                </a:r>
                <a:r>
                  <a:rPr kumimoji="0" sz="2178" b="1" i="0" u="none" strike="noStrike" kern="1200" cap="none" spc="18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n</a:t>
                </a:r>
                <a:r>
                  <a:rPr kumimoji="0" sz="2178" b="1" i="0" u="none" strike="noStrike" kern="1200" cap="none" spc="9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 th</a:t>
                </a:r>
                <a:r>
                  <a:rPr kumimoji="0" sz="2178" b="1" i="0" u="none" strike="noStrike" kern="1200" cap="none" spc="14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at</a:t>
                </a:r>
                <a:r>
                  <a:rPr kumimoji="0" sz="2178" b="1" i="0" u="none" strike="noStrike" kern="1200" cap="none" spc="9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 a</a:t>
                </a:r>
                <a:r>
                  <a:rPr kumimoji="0" sz="2178" b="1" i="0" u="none" strike="noStrike" kern="1200" cap="none" spc="-18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l</a:t>
                </a:r>
                <a:r>
                  <a:rPr kumimoji="0" sz="2178" b="1" i="0" u="none" strike="noStrike" kern="1200" cap="none" spc="27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w</a:t>
                </a:r>
                <a:r>
                  <a:rPr kumimoji="0" sz="2178" b="1" i="0" u="none" strike="noStrike" kern="1200" cap="none" spc="-36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a</a:t>
                </a:r>
                <a:r>
                  <a:rPr kumimoji="0" sz="2178" b="1" i="0" u="none" strike="noStrike" kern="1200" cap="none" spc="18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ys</a:t>
                </a:r>
                <a:r>
                  <a:rPr kumimoji="0" sz="2178" b="1" i="0" u="none" strike="noStrike" kern="1200" cap="none" spc="14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 </a:t>
                </a:r>
                <a:r>
                  <a:rPr kumimoji="0" sz="2178" b="1" i="0" u="none" strike="noStrike" kern="1200" cap="none" spc="-18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e</a:t>
                </a:r>
                <a:r>
                  <a:rPr kumimoji="0" sz="2178" b="1" i="0" u="none" strike="noStrike" kern="1200" cap="none" spc="-27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v</a:t>
                </a:r>
                <a:r>
                  <a:rPr kumimoji="0" sz="2178" b="1" i="0" u="none" strike="noStrike" kern="1200" cap="none" spc="9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a</a:t>
                </a:r>
                <a:r>
                  <a:rPr kumimoji="0" sz="2178" b="1" i="0" u="none" strike="noStrike" kern="1200" cap="none" spc="18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l</a:t>
                </a:r>
                <a:r>
                  <a:rPr kumimoji="0" sz="2178" b="1" i="0" u="none" strike="noStrike" kern="1200" cap="none" spc="14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u</a:t>
                </a:r>
                <a:r>
                  <a:rPr kumimoji="0" sz="2178" b="1" i="0" u="none" strike="noStrike" kern="1200" cap="none" spc="9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a</a:t>
                </a:r>
                <a:r>
                  <a:rPr kumimoji="0" sz="2178" b="1" i="0" u="none" strike="noStrike" kern="1200" cap="none" spc="14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t</a:t>
                </a:r>
                <a:r>
                  <a:rPr kumimoji="0" sz="2178" b="1" i="0" u="none" strike="noStrike" kern="1200" cap="none" spc="18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es</a:t>
                </a:r>
                <a:r>
                  <a:rPr kumimoji="0" sz="2178" b="1" i="0" u="none" strike="noStrike" kern="1200" cap="none" spc="-5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 </a:t>
                </a:r>
                <a:r>
                  <a:rPr kumimoji="0" sz="2178" b="1" i="0" u="none" strike="noStrike" kern="1200" cap="none" spc="14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t</a:t>
                </a:r>
                <a:r>
                  <a:rPr kumimoji="0" sz="2178" b="1" i="0" u="none" strike="noStrike" kern="1200" cap="none" spc="18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o</a:t>
                </a:r>
                <a:r>
                  <a:rPr kumimoji="0" sz="2178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 </a:t>
                </a:r>
                <a:r>
                  <a:rPr kumimoji="0" sz="2178" b="1" i="0" u="none" strike="noStrike" kern="1200" cap="none" spc="5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t</a:t>
                </a:r>
                <a:r>
                  <a:rPr kumimoji="0" sz="2178" b="1" i="0" u="none" strike="noStrike" kern="1200" cap="none" spc="14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ru</a:t>
                </a:r>
                <a:r>
                  <a:rPr kumimoji="0" sz="2178" b="1" i="0" u="none" strike="noStrike" kern="1200" cap="none" spc="64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e</a:t>
                </a:r>
                <a:r>
                  <a:rPr kumimoji="0" sz="2178" b="1" i="0" u="none" strike="noStrike" kern="1200" cap="none" spc="9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.</a:t>
                </a:r>
                <a:endParaRPr kumimoji="0" sz="2178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178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	examples: T,  p </a:t>
                </a:r>
                <a14:m>
                  <m:oMath xmlns:m="http://schemas.openxmlformats.org/officeDocument/2006/math">
                    <m:r>
                      <a:rPr kumimoji="0" lang="en-US" sz="2178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∨¬</m:t>
                    </m:r>
                  </m:oMath>
                </a14:m>
                <a:r>
                  <a:rPr kumimoji="0" lang="en-US" sz="2178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p</a:t>
                </a:r>
                <a:endParaRPr kumimoji="0" sz="2178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5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99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  <a:p>
                <a:pPr marL="11527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178" b="1" i="0" u="none" strike="noStrike" kern="1200" cap="none" spc="18" normalizeH="0" baseline="0" noProof="0" dirty="0">
                    <a:ln>
                      <a:noFill/>
                    </a:ln>
                    <a:solidFill>
                      <a:srgbClr val="7F00CC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De</a:t>
                </a:r>
                <a:r>
                  <a:rPr kumimoji="0" sz="2178" b="1" i="0" u="none" strike="noStrike" kern="1200" cap="none" spc="141" normalizeH="0" baseline="0" noProof="0" dirty="0">
                    <a:ln>
                      <a:noFill/>
                    </a:ln>
                    <a:solidFill>
                      <a:srgbClr val="7F00CC"/>
                    </a:solidFill>
                    <a:effectLst/>
                    <a:uLnTx/>
                    <a:uFillTx/>
                    <a:latin typeface="Calibri"/>
                    <a:ea typeface="+mn-ea"/>
                    <a:cs typeface="Calibri"/>
                  </a:rPr>
                  <a:t>ﬁ</a:t>
                </a:r>
                <a:r>
                  <a:rPr kumimoji="0" sz="2178" b="1" i="0" u="none" strike="noStrike" kern="1200" cap="none" spc="14" normalizeH="0" baseline="0" noProof="0" dirty="0">
                    <a:ln>
                      <a:noFill/>
                    </a:ln>
                    <a:solidFill>
                      <a:srgbClr val="7F00CC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n</a:t>
                </a:r>
                <a:r>
                  <a:rPr kumimoji="0" sz="2178" b="1" i="0" u="none" strike="noStrike" kern="1200" cap="none" spc="9" normalizeH="0" baseline="0" noProof="0" dirty="0">
                    <a:ln>
                      <a:noFill/>
                    </a:ln>
                    <a:solidFill>
                      <a:srgbClr val="7F00CC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i</a:t>
                </a:r>
                <a:r>
                  <a:rPr kumimoji="0" sz="2178" b="1" i="0" u="none" strike="noStrike" kern="1200" cap="none" spc="14" normalizeH="0" baseline="0" noProof="0" dirty="0">
                    <a:ln>
                      <a:noFill/>
                    </a:ln>
                    <a:solidFill>
                      <a:srgbClr val="7F00CC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t</a:t>
                </a:r>
                <a:r>
                  <a:rPr kumimoji="0" sz="2178" b="1" i="0" u="none" strike="noStrike" kern="1200" cap="none" spc="9" normalizeH="0" baseline="0" noProof="0" dirty="0">
                    <a:ln>
                      <a:noFill/>
                    </a:ln>
                    <a:solidFill>
                      <a:srgbClr val="7F00CC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i</a:t>
                </a:r>
                <a:r>
                  <a:rPr kumimoji="0" sz="2178" b="1" i="0" u="none" strike="noStrike" kern="1200" cap="none" spc="14" normalizeH="0" baseline="0" noProof="0" dirty="0">
                    <a:ln>
                      <a:noFill/>
                    </a:ln>
                    <a:solidFill>
                      <a:srgbClr val="7F00CC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on</a:t>
                </a:r>
                <a:r>
                  <a:rPr kumimoji="0" sz="2178" b="1" i="0" u="none" strike="noStrike" kern="1200" cap="none" spc="9" normalizeH="0" baseline="0" noProof="0" dirty="0">
                    <a:ln>
                      <a:noFill/>
                    </a:ln>
                    <a:solidFill>
                      <a:srgbClr val="7F00CC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:</a:t>
                </a:r>
                <a:r>
                  <a:rPr kumimoji="0" sz="2178" b="1" i="0" u="none" strike="noStrike" kern="1200" cap="none" spc="145" normalizeH="0" baseline="0" noProof="0" dirty="0">
                    <a:ln>
                      <a:noFill/>
                    </a:ln>
                    <a:solidFill>
                      <a:srgbClr val="7F00CC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 </a:t>
                </a:r>
                <a:r>
                  <a:rPr kumimoji="0" sz="2178" b="1" i="0" u="none" strike="noStrike" kern="1200" cap="none" spc="18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Con</a:t>
                </a:r>
                <a:r>
                  <a:rPr kumimoji="0" sz="2178" b="1" i="0" u="none" strike="noStrike" kern="1200" cap="none" spc="14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t</a:t>
                </a:r>
                <a:r>
                  <a:rPr kumimoji="0" sz="2178" b="1" i="0" u="none" strike="noStrike" kern="1200" cap="none" spc="5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r</a:t>
                </a:r>
                <a:r>
                  <a:rPr kumimoji="0" sz="2178" b="1" i="0" u="none" strike="noStrike" kern="1200" cap="none" spc="18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a</a:t>
                </a:r>
                <a:r>
                  <a:rPr kumimoji="0" sz="2178" b="1" i="0" u="none" strike="noStrike" kern="1200" cap="none" spc="14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dic</a:t>
                </a:r>
                <a:r>
                  <a:rPr kumimoji="0" sz="2178" b="1" i="0" u="none" strike="noStrike" kern="1200" cap="none" spc="5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t</a:t>
                </a:r>
                <a:r>
                  <a:rPr kumimoji="0" sz="2178" b="1" i="0" u="none" strike="noStrike" kern="1200" cap="none" spc="18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i</a:t>
                </a:r>
                <a:r>
                  <a:rPr kumimoji="0" sz="2178" b="1" i="0" u="none" strike="noStrike" kern="1200" cap="none" spc="14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o</a:t>
                </a:r>
                <a:r>
                  <a:rPr kumimoji="0" sz="2178" b="1" i="0" u="none" strike="noStrike" kern="1200" cap="none" spc="18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n</a:t>
                </a:r>
                <a:endParaRPr kumimoji="0" sz="2178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  <a:p>
                <a:pPr marL="239175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717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24" b="1" i="0" u="none" strike="noStrike" kern="1200" cap="none" spc="-9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A</a:t>
                </a:r>
                <a:r>
                  <a:rPr kumimoji="0" sz="2224" b="1" i="0" u="none" strike="noStrike" kern="1200" cap="none" spc="-5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 </a:t>
                </a:r>
                <a:r>
                  <a:rPr kumimoji="0" sz="2224" b="1" i="0" u="none" strike="noStrike" kern="1200" cap="none" spc="-14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p</a:t>
                </a:r>
                <a:r>
                  <a:rPr kumimoji="0" sz="2224" b="1" i="0" u="none" strike="noStrike" kern="1200" cap="none" spc="-59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r</a:t>
                </a:r>
                <a:r>
                  <a:rPr kumimoji="0" sz="2178" b="1" i="0" u="none" strike="noStrike" kern="1200" cap="none" spc="14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o</a:t>
                </a:r>
                <a:r>
                  <a:rPr kumimoji="0" sz="2224" b="1" i="0" u="none" strike="noStrike" kern="1200" cap="none" spc="-14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po</a:t>
                </a:r>
                <a:r>
                  <a:rPr kumimoji="0" sz="2224" b="1" i="0" u="none" strike="noStrike" kern="1200" cap="none" spc="-18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s</a:t>
                </a:r>
                <a:r>
                  <a:rPr kumimoji="0" sz="2224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it</a:t>
                </a:r>
                <a:r>
                  <a:rPr kumimoji="0" sz="2224" b="1" i="0" u="none" strike="noStrike" kern="1200" cap="none" spc="-5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i</a:t>
                </a:r>
                <a:r>
                  <a:rPr kumimoji="0" sz="2224" b="1" i="0" u="none" strike="noStrike" kern="1200" cap="none" spc="-14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o</a:t>
                </a:r>
                <a:r>
                  <a:rPr kumimoji="0" sz="2178" b="1" i="0" u="none" strike="noStrike" kern="1200" cap="none" spc="18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n</a:t>
                </a:r>
                <a:r>
                  <a:rPr kumimoji="0" sz="2178" b="1" i="0" u="none" strike="noStrike" kern="1200" cap="none" spc="9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 </a:t>
                </a:r>
                <a:r>
                  <a:rPr kumimoji="0" sz="2224" b="1" i="0" u="none" strike="noStrike" kern="1200" cap="none" spc="-9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th</a:t>
                </a:r>
                <a:r>
                  <a:rPr kumimoji="0" sz="2224" b="1" i="0" u="none" strike="noStrike" kern="1200" cap="none" spc="-5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at </a:t>
                </a:r>
                <a:r>
                  <a:rPr kumimoji="0" sz="2224" b="1" i="0" u="none" strike="noStrike" kern="1200" cap="none" spc="-18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a</a:t>
                </a:r>
                <a:r>
                  <a:rPr kumimoji="0" sz="2224" b="1" i="0" u="none" strike="noStrike" kern="1200" cap="none" spc="-32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l</a:t>
                </a:r>
                <a:r>
                  <a:rPr kumimoji="0" sz="2224" b="1" i="0" u="none" strike="noStrike" kern="1200" cap="none" spc="-9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w</a:t>
                </a:r>
                <a:r>
                  <a:rPr kumimoji="0" sz="2224" b="1" i="0" u="none" strike="noStrike" kern="1200" cap="none" spc="-64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a</a:t>
                </a:r>
                <a:r>
                  <a:rPr kumimoji="0" sz="2224" b="1" i="0" u="none" strike="noStrike" kern="1200" cap="none" spc="-9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ys</a:t>
                </a:r>
                <a:r>
                  <a:rPr kumimoji="0" sz="2224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 </a:t>
                </a:r>
                <a:r>
                  <a:rPr kumimoji="0" sz="2224" b="1" i="0" u="none" strike="noStrike" kern="1200" cap="none" spc="-45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e</a:t>
                </a:r>
                <a:r>
                  <a:rPr kumimoji="0" sz="2224" b="1" i="0" u="none" strike="noStrike" kern="1200" cap="none" spc="-54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v</a:t>
                </a:r>
                <a:r>
                  <a:rPr kumimoji="0" sz="2178" b="1" i="0" u="none" strike="noStrike" kern="1200" cap="none" spc="9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a</a:t>
                </a:r>
                <a:r>
                  <a:rPr kumimoji="0" sz="2178" b="1" i="0" u="none" strike="noStrike" kern="1200" cap="none" spc="18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l</a:t>
                </a:r>
                <a:r>
                  <a:rPr kumimoji="0" sz="2224" b="1" i="0" u="none" strike="noStrike" kern="1200" cap="none" spc="-14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u</a:t>
                </a:r>
                <a:r>
                  <a:rPr kumimoji="0" sz="2224" b="1" i="0" u="none" strike="noStrike" kern="1200" cap="none" spc="-18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a</a:t>
                </a:r>
                <a:r>
                  <a:rPr kumimoji="0" sz="2224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t</a:t>
                </a:r>
                <a:r>
                  <a:rPr kumimoji="0" sz="2178" b="1" i="0" u="none" strike="noStrike" kern="1200" cap="none" spc="18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e</a:t>
                </a:r>
                <a:r>
                  <a:rPr kumimoji="0" sz="2224" b="1" i="0" u="none" strike="noStrike" kern="1200" cap="none" spc="-9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s</a:t>
                </a:r>
                <a:r>
                  <a:rPr kumimoji="0" sz="2224" b="1" i="0" u="none" strike="noStrike" kern="1200" cap="none" spc="-18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 </a:t>
                </a:r>
                <a:r>
                  <a:rPr kumimoji="0" sz="2224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t</a:t>
                </a:r>
                <a:r>
                  <a:rPr kumimoji="0" sz="2178" b="1" i="0" u="none" strike="noStrike" kern="1200" cap="none" spc="18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o</a:t>
                </a:r>
                <a:r>
                  <a:rPr kumimoji="0" sz="2178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 </a:t>
                </a:r>
                <a:r>
                  <a:rPr kumimoji="0" sz="2224" b="1" i="0" u="none" strike="noStrike" kern="1200" cap="none" spc="-9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fa</a:t>
                </a:r>
                <a:r>
                  <a:rPr kumimoji="0" sz="2224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l</a:t>
                </a:r>
                <a:r>
                  <a:rPr kumimoji="0" sz="2224" b="1" i="0" u="none" strike="noStrike" kern="1200" cap="none" spc="-18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s</a:t>
                </a:r>
                <a:r>
                  <a:rPr kumimoji="0" sz="2224" b="1" i="0" u="none" strike="noStrike" kern="1200" cap="none" spc="23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e</a:t>
                </a:r>
                <a:r>
                  <a:rPr kumimoji="0" sz="2224" b="1" i="0" u="none" strike="noStrike" kern="1200" cap="none" spc="-5" normalizeH="0" baseline="0" noProof="0" dirty="0">
                    <a:ln>
                      <a:noFill/>
                    </a:ln>
                    <a:solidFill>
                      <a:srgbClr val="8B1616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.</a:t>
                </a:r>
                <a:endParaRPr kumimoji="0" sz="2224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178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	examples: F, p </a:t>
                </a:r>
                <a14:m>
                  <m:oMath xmlns:m="http://schemas.openxmlformats.org/officeDocument/2006/math">
                    <m:r>
                      <a:rPr kumimoji="0" lang="en-US" sz="2178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∧</m:t>
                    </m:r>
                  </m:oMath>
                </a14:m>
                <a:r>
                  <a:rPr kumimoji="0" lang="en-US" sz="2178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Cambria Math" panose="02040503050406030204" pitchFamily="18" charset="0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178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¬</m:t>
                    </m:r>
                  </m:oMath>
                </a14:m>
                <a:r>
                  <a:rPr kumimoji="0" lang="en-US" sz="2178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p</a:t>
                </a:r>
                <a:endParaRPr kumimoji="0" sz="2178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39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768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826" y="1157215"/>
                <a:ext cx="7704588" cy="3135730"/>
              </a:xfrm>
              <a:prstGeom prst="rect">
                <a:avLst/>
              </a:prstGeom>
              <a:blipFill>
                <a:blip r:embed="rId4"/>
                <a:stretch>
                  <a:fillRect l="-1978" t="-2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2799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none" dirty="0"/>
              <a:t>          Determining Tautologies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8024" y="1142232"/>
            <a:ext cx="9715952" cy="5909310"/>
          </a:xfrm>
        </p:spPr>
        <p:txBody>
          <a:bodyPr/>
          <a:lstStyle/>
          <a:p>
            <a:r>
              <a:rPr lang="en-US" sz="2400" dirty="0"/>
              <a:t>How can we determine whether a proposition is a tautology or a contradiction?</a:t>
            </a:r>
          </a:p>
          <a:p>
            <a:endParaRPr lang="en-US" sz="2400" dirty="0"/>
          </a:p>
          <a:p>
            <a:r>
              <a:rPr lang="en-US" sz="2400" dirty="0"/>
              <a:t>One way is to use a truth table.</a:t>
            </a:r>
          </a:p>
          <a:p>
            <a:endParaRPr lang="en-US" sz="2400" dirty="0"/>
          </a:p>
          <a:p>
            <a:r>
              <a:rPr lang="en-US" sz="2400" dirty="0"/>
              <a:t>To show something IS a tautology this way one would have to have complete truth table that shows the proposition evaluates to true for all possible combinations of values of the logical variables.</a:t>
            </a:r>
          </a:p>
          <a:p>
            <a:endParaRPr lang="en-US" sz="2400" dirty="0"/>
          </a:p>
          <a:p>
            <a:r>
              <a:rPr lang="en-US" sz="2400" dirty="0"/>
              <a:t>To show it’s NOT a tautology one only has to find one assignment of variables under which the proposition evaluates to false</a:t>
            </a:r>
          </a:p>
          <a:p>
            <a:endParaRPr lang="en-US" sz="2400" dirty="0"/>
          </a:p>
          <a:p>
            <a:r>
              <a:rPr lang="en-US" sz="2400" dirty="0"/>
              <a:t>(Likewise for a contradiction)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400029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example, show whether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18577" y="1960954"/>
            <a:ext cx="1833245" cy="453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50" spc="310" dirty="0">
                <a:solidFill>
                  <a:prstClr val="black"/>
                </a:solidFill>
                <a:latin typeface="Lucida Sans Unicode"/>
                <a:cs typeface="Lucida Sans Unicode"/>
              </a:rPr>
              <a:t>p</a:t>
            </a:r>
            <a:r>
              <a:rPr kumimoji="0" sz="4425" b="0" i="0" u="none" strike="noStrike" kern="1200" cap="none" spc="225" normalizeH="0" baseline="1224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⊕</a:t>
            </a:r>
            <a:r>
              <a:rPr kumimoji="0" sz="4425" b="0" i="0" u="none" strike="noStrike" kern="1200" cap="none" spc="-675" normalizeH="0" baseline="1224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 </a:t>
            </a:r>
            <a:r>
              <a:rPr kumimoji="0" sz="4425" b="0" i="0" u="none" strike="noStrike" kern="1200" cap="none" spc="247" normalizeH="0" baseline="2824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(</a:t>
            </a:r>
            <a:r>
              <a:rPr kumimoji="0" lang="en-US" sz="295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q</a:t>
            </a:r>
            <a:r>
              <a:rPr kumimoji="0" sz="4425" b="0" i="0" u="none" strike="noStrike" kern="1200" cap="none" spc="-247" normalizeH="0" baseline="1224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∧</a:t>
            </a:r>
            <a:r>
              <a:rPr kumimoji="0" sz="4425" b="0" i="0" u="none" strike="noStrike" kern="1200" cap="none" spc="-682" normalizeH="0" baseline="1224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 </a:t>
            </a:r>
            <a:r>
              <a:rPr kumimoji="0" lang="en-US" sz="295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r</a:t>
            </a:r>
            <a:r>
              <a:rPr kumimoji="0" sz="4425" b="0" i="0" u="none" strike="noStrike" kern="1200" cap="none" spc="300" normalizeH="0" baseline="2824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)</a:t>
            </a:r>
            <a:endParaRPr kumimoji="0" sz="4425" b="0" i="0" u="none" strike="noStrike" kern="1200" cap="none" spc="0" normalizeH="0" baseline="2824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 Unicode"/>
              <a:ea typeface="+mn-ea"/>
              <a:cs typeface="Lucida Sans Unicode"/>
            </a:endParaRP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1238024" y="2936561"/>
            <a:ext cx="9715952" cy="3351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178" b="1" i="0">
                <a:solidFill>
                  <a:schemeClr val="hlink"/>
                </a:solidFill>
                <a:latin typeface="Arial"/>
                <a:ea typeface="+mn-ea"/>
                <a:cs typeface="Arial"/>
              </a:defRPr>
            </a:lvl1pPr>
            <a:lvl2pPr marL="414955">
              <a:defRPr>
                <a:latin typeface="+mn-lt"/>
                <a:ea typeface="+mn-ea"/>
                <a:cs typeface="+mn-cs"/>
              </a:defRPr>
            </a:lvl2pPr>
            <a:lvl3pPr marL="829909">
              <a:defRPr>
                <a:latin typeface="+mn-lt"/>
                <a:ea typeface="+mn-ea"/>
                <a:cs typeface="+mn-cs"/>
              </a:defRPr>
            </a:lvl3pPr>
            <a:lvl4pPr marL="1244864">
              <a:defRPr>
                <a:latin typeface="+mn-lt"/>
                <a:ea typeface="+mn-ea"/>
                <a:cs typeface="+mn-cs"/>
              </a:defRPr>
            </a:lvl4pPr>
            <a:lvl5pPr marL="1659819">
              <a:defRPr>
                <a:latin typeface="+mn-lt"/>
                <a:ea typeface="+mn-ea"/>
                <a:cs typeface="+mn-cs"/>
              </a:defRPr>
            </a:lvl5pPr>
            <a:lvl6pPr marL="2074774">
              <a:defRPr>
                <a:latin typeface="+mn-lt"/>
                <a:ea typeface="+mn-ea"/>
                <a:cs typeface="+mn-cs"/>
              </a:defRPr>
            </a:lvl6pPr>
            <a:lvl7pPr marL="2489728">
              <a:defRPr>
                <a:latin typeface="+mn-lt"/>
                <a:ea typeface="+mn-ea"/>
                <a:cs typeface="+mn-cs"/>
              </a:defRPr>
            </a:lvl7pPr>
            <a:lvl8pPr marL="2904683">
              <a:defRPr>
                <a:latin typeface="+mn-lt"/>
                <a:ea typeface="+mn-ea"/>
                <a:cs typeface="+mn-cs"/>
              </a:defRPr>
            </a:lvl8pPr>
            <a:lvl9pPr marL="3319638">
              <a:defRPr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78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is a tautology or a contradiction or neither?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D4D8CB90-739C-47E0-B99F-CF6B7B0493AC}"/>
              </a:ext>
            </a:extLst>
          </p:cNvPr>
          <p:cNvSpPr txBox="1"/>
          <p:nvPr/>
        </p:nvSpPr>
        <p:spPr>
          <a:xfrm>
            <a:off x="1434007" y="3647112"/>
            <a:ext cx="6095202" cy="453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50" spc="310" dirty="0">
                <a:solidFill>
                  <a:prstClr val="black"/>
                </a:solidFill>
                <a:latin typeface="Lucida Sans Unicode"/>
                <a:cs typeface="Lucida Sans Unicode"/>
              </a:rPr>
              <a:t>F</a:t>
            </a:r>
            <a:r>
              <a:rPr kumimoji="0" sz="4425" b="0" i="0" u="none" strike="noStrike" kern="1200" cap="none" spc="225" normalizeH="0" baseline="1224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⊕</a:t>
            </a:r>
            <a:r>
              <a:rPr kumimoji="0" sz="4425" b="0" i="0" u="none" strike="noStrike" kern="1200" cap="none" spc="-675" normalizeH="0" baseline="1224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 </a:t>
            </a:r>
            <a:r>
              <a:rPr kumimoji="0" sz="4425" b="0" i="0" u="none" strike="noStrike" kern="1200" cap="none" spc="247" normalizeH="0" baseline="2824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(</a:t>
            </a:r>
            <a:r>
              <a:rPr kumimoji="0" lang="en-US" sz="295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F</a:t>
            </a:r>
            <a:r>
              <a:rPr kumimoji="0" sz="4425" b="0" i="0" u="none" strike="noStrike" kern="1200" cap="none" spc="-247" normalizeH="0" baseline="1224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∧</a:t>
            </a:r>
            <a:r>
              <a:rPr kumimoji="0" sz="4425" b="0" i="0" u="none" strike="noStrike" kern="1200" cap="none" spc="-682" normalizeH="0" baseline="1224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 </a:t>
            </a:r>
            <a:r>
              <a:rPr kumimoji="0" lang="en-US" sz="295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F</a:t>
            </a:r>
            <a:r>
              <a:rPr kumimoji="0" sz="4425" b="0" i="0" u="none" strike="noStrike" kern="1200" cap="none" spc="300" normalizeH="0" baseline="2824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)</a:t>
            </a:r>
            <a:r>
              <a:rPr kumimoji="0" lang="en-US" sz="4425" b="0" i="0" u="none" strike="noStrike" kern="1200" cap="none" spc="300" normalizeH="0" baseline="2824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 = F⊕F = 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A17689-3A55-49D2-B0EB-F03962212695}"/>
              </a:ext>
            </a:extLst>
          </p:cNvPr>
          <p:cNvSpPr txBox="1"/>
          <p:nvPr/>
        </p:nvSpPr>
        <p:spPr>
          <a:xfrm>
            <a:off x="1817515" y="4173166"/>
            <a:ext cx="5668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so not a tautology</a:t>
            </a: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BCF76C8B-C57E-4E19-9E66-6C2EC56FF2C3}"/>
              </a:ext>
            </a:extLst>
          </p:cNvPr>
          <p:cNvSpPr txBox="1"/>
          <p:nvPr/>
        </p:nvSpPr>
        <p:spPr>
          <a:xfrm>
            <a:off x="1390927" y="4927921"/>
            <a:ext cx="6095202" cy="453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50" spc="310" dirty="0">
                <a:solidFill>
                  <a:prstClr val="black"/>
                </a:solidFill>
                <a:latin typeface="Lucida Sans Unicode"/>
                <a:cs typeface="Lucida Sans Unicode"/>
              </a:rPr>
              <a:t>T</a:t>
            </a:r>
            <a:r>
              <a:rPr kumimoji="0" sz="4425" b="0" i="0" u="none" strike="noStrike" kern="1200" cap="none" spc="225" normalizeH="0" baseline="1224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⊕</a:t>
            </a:r>
            <a:r>
              <a:rPr kumimoji="0" sz="4425" b="0" i="0" u="none" strike="noStrike" kern="1200" cap="none" spc="-675" normalizeH="0" baseline="1224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 </a:t>
            </a:r>
            <a:r>
              <a:rPr kumimoji="0" sz="4425" b="0" i="0" u="none" strike="noStrike" kern="1200" cap="none" spc="247" normalizeH="0" baseline="2824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(</a:t>
            </a:r>
            <a:r>
              <a:rPr kumimoji="0" lang="en-US" sz="295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F</a:t>
            </a:r>
            <a:r>
              <a:rPr kumimoji="0" sz="4425" b="0" i="0" u="none" strike="noStrike" kern="1200" cap="none" spc="-247" normalizeH="0" baseline="1224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∧</a:t>
            </a:r>
            <a:r>
              <a:rPr kumimoji="0" sz="4425" b="0" i="0" u="none" strike="noStrike" kern="1200" cap="none" spc="-682" normalizeH="0" baseline="1224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 </a:t>
            </a:r>
            <a:r>
              <a:rPr kumimoji="0" lang="en-US" sz="295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F</a:t>
            </a:r>
            <a:r>
              <a:rPr kumimoji="0" sz="4425" b="0" i="0" u="none" strike="noStrike" kern="1200" cap="none" spc="300" normalizeH="0" baseline="2824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)</a:t>
            </a:r>
            <a:r>
              <a:rPr kumimoji="0" lang="en-US" sz="4425" b="0" i="0" u="none" strike="noStrike" kern="1200" cap="none" spc="300" normalizeH="0" baseline="2824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 = T⊕F = 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293BF1-30C6-4118-AD11-AB8F544BC2B1}"/>
              </a:ext>
            </a:extLst>
          </p:cNvPr>
          <p:cNvSpPr txBox="1"/>
          <p:nvPr/>
        </p:nvSpPr>
        <p:spPr>
          <a:xfrm>
            <a:off x="1817515" y="5444148"/>
            <a:ext cx="5668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so not a contradiction</a:t>
            </a:r>
          </a:p>
        </p:txBody>
      </p:sp>
    </p:spTree>
    <p:extLst>
      <p:ext uri="{BB962C8B-B14F-4D97-AF65-F5344CB8AC3E}">
        <p14:creationId xmlns:p14="http://schemas.microsoft.com/office/powerpoint/2010/main" val="31339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none" dirty="0" err="1"/>
              <a:t>Satisfiable</a:t>
            </a:r>
            <a:r>
              <a:rPr lang="en-US" u="none" dirty="0"/>
              <a:t> Proposition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8024" y="1142232"/>
            <a:ext cx="9715952" cy="1340623"/>
          </a:xfrm>
        </p:spPr>
        <p:txBody>
          <a:bodyPr/>
          <a:lstStyle/>
          <a:p>
            <a:r>
              <a:rPr lang="en-US" dirty="0"/>
              <a:t>A proposition is </a:t>
            </a:r>
            <a:r>
              <a:rPr lang="en-US" i="1" dirty="0">
                <a:solidFill>
                  <a:schemeClr val="tx1"/>
                </a:solidFill>
              </a:rPr>
              <a:t>Satisfiable </a:t>
            </a:r>
            <a:r>
              <a:rPr lang="en-US" dirty="0">
                <a:solidFill>
                  <a:srgbClr val="0000FF"/>
                </a:solidFill>
              </a:rPr>
              <a:t>if there is an assignment of truth values to its variables that makes it true.</a:t>
            </a:r>
          </a:p>
          <a:p>
            <a:endParaRPr lang="en-US" i="1" dirty="0">
              <a:solidFill>
                <a:srgbClr val="0000FF"/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In other words: a proposition is satisfiable </a:t>
            </a:r>
            <a:r>
              <a:rPr lang="en-US" dirty="0" err="1">
                <a:solidFill>
                  <a:srgbClr val="0000FF"/>
                </a:solidFill>
              </a:rPr>
              <a:t>iff</a:t>
            </a:r>
            <a:r>
              <a:rPr lang="en-US" dirty="0">
                <a:solidFill>
                  <a:srgbClr val="0000FF"/>
                </a:solidFill>
              </a:rPr>
              <a:t> it is not a contradiction.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0EFC59-E4CC-0BAD-66A1-1351E2A87D3E}"/>
                  </a:ext>
                </a:extLst>
              </p:cNvPr>
              <p:cNvSpPr txBox="1"/>
              <p:nvPr/>
            </p:nvSpPr>
            <p:spPr>
              <a:xfrm>
                <a:off x="1122947" y="3144253"/>
                <a:ext cx="9416716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000" b="1" dirty="0"/>
                  <a:t>Example: Show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</m:d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→¬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sz="2000" b="1" dirty="0"/>
                  <a:t> is satisfiable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000" b="1" dirty="0"/>
                  <a:t>we must find an assignment of values for p and q that make the statement true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000" b="1" dirty="0"/>
                  <a:t>This is easy since all we need to do is make the hypothesis false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000" b="1" dirty="0"/>
                  <a:t>p = true and q = false will work.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 →¬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2000" b="1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0EFC59-E4CC-0BAD-66A1-1351E2A87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947" y="3144253"/>
                <a:ext cx="9416716" cy="1938992"/>
              </a:xfrm>
              <a:prstGeom prst="rect">
                <a:avLst/>
              </a:prstGeom>
              <a:blipFill>
                <a:blip r:embed="rId3"/>
                <a:stretch>
                  <a:fillRect l="-647" t="-1887" b="-2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6012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01669" y="909405"/>
            <a:ext cx="9046797" cy="0"/>
          </a:xfrm>
          <a:custGeom>
            <a:avLst/>
            <a:gdLst/>
            <a:ahLst/>
            <a:cxnLst/>
            <a:rect l="l" t="t" r="r" b="b"/>
            <a:pathLst>
              <a:path w="9968230">
                <a:moveTo>
                  <a:pt x="0" y="0"/>
                </a:moveTo>
                <a:lnTo>
                  <a:pt x="9968230" y="0"/>
                </a:lnTo>
              </a:path>
            </a:pathLst>
          </a:custGeom>
          <a:ln w="7547">
            <a:solidFill>
              <a:srgbClr val="CC0033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091">
              <a:tabLst>
                <a:tab pos="9716280" algn="l"/>
              </a:tabLst>
            </a:pPr>
            <a:r>
              <a:rPr lang="en-US" u="none" dirty="0"/>
              <a:t> </a:t>
            </a:r>
            <a:r>
              <a:rPr u="none" dirty="0"/>
              <a:t>B</a:t>
            </a:r>
            <a:r>
              <a:rPr u="none" spc="-5" dirty="0"/>
              <a:t>i</a:t>
            </a:r>
            <a:r>
              <a:rPr u="none" dirty="0"/>
              <a:t>co</a:t>
            </a:r>
            <a:r>
              <a:rPr u="none" spc="9" dirty="0"/>
              <a:t>nd</a:t>
            </a:r>
            <a:r>
              <a:rPr u="none" spc="-5" dirty="0"/>
              <a:t>iti</a:t>
            </a:r>
            <a:r>
              <a:rPr u="none" spc="9" dirty="0"/>
              <a:t>o</a:t>
            </a:r>
            <a:r>
              <a:rPr u="none" dirty="0"/>
              <a:t>n</a:t>
            </a:r>
            <a:r>
              <a:rPr u="none" spc="9" dirty="0"/>
              <a:t>a</a:t>
            </a:r>
            <a:r>
              <a:rPr u="none" spc="-5" dirty="0"/>
              <a:t>l</a:t>
            </a:r>
            <a:r>
              <a:rPr u="none" spc="9" dirty="0"/>
              <a:t>s</a:t>
            </a:r>
            <a:r>
              <a:rPr u="none" spc="-5" dirty="0"/>
              <a:t> </a:t>
            </a:r>
            <a:r>
              <a:rPr u="none" spc="9" dirty="0"/>
              <a:t>a</a:t>
            </a:r>
            <a:r>
              <a:rPr u="none" dirty="0"/>
              <a:t>n</a:t>
            </a:r>
            <a:r>
              <a:rPr u="none" spc="9" dirty="0"/>
              <a:t>d</a:t>
            </a:r>
            <a:r>
              <a:rPr u="none" spc="-5" dirty="0"/>
              <a:t> </a:t>
            </a:r>
            <a:r>
              <a:rPr u="none" spc="9" dirty="0"/>
              <a:t>L</a:t>
            </a:r>
            <a:r>
              <a:rPr u="none" dirty="0"/>
              <a:t>o</a:t>
            </a:r>
            <a:r>
              <a:rPr u="none" spc="9" dirty="0"/>
              <a:t>g</a:t>
            </a:r>
            <a:r>
              <a:rPr u="none" spc="-5" dirty="0"/>
              <a:t>i</a:t>
            </a:r>
            <a:r>
              <a:rPr u="none" dirty="0"/>
              <a:t>c</a:t>
            </a:r>
            <a:r>
              <a:rPr u="none" spc="5" dirty="0"/>
              <a:t>al</a:t>
            </a:r>
            <a:r>
              <a:rPr u="none" spc="-5" dirty="0"/>
              <a:t> </a:t>
            </a:r>
            <a:r>
              <a:rPr u="none" dirty="0"/>
              <a:t>E</a:t>
            </a:r>
            <a:r>
              <a:rPr u="none" spc="9" dirty="0"/>
              <a:t>q</a:t>
            </a:r>
            <a:r>
              <a:rPr u="none" dirty="0"/>
              <a:t>u</a:t>
            </a:r>
            <a:r>
              <a:rPr u="none" spc="-5" dirty="0"/>
              <a:t>i</a:t>
            </a:r>
            <a:r>
              <a:rPr u="none" spc="-73" dirty="0"/>
              <a:t>v</a:t>
            </a:r>
            <a:r>
              <a:rPr u="none" spc="9" dirty="0"/>
              <a:t>a</a:t>
            </a:r>
            <a:r>
              <a:rPr u="none" spc="-5" dirty="0"/>
              <a:t>l</a:t>
            </a:r>
            <a:r>
              <a:rPr u="none" dirty="0"/>
              <a:t>e</a:t>
            </a:r>
            <a:r>
              <a:rPr u="none" spc="9" dirty="0"/>
              <a:t>n</a:t>
            </a:r>
            <a:r>
              <a:rPr u="none" dirty="0"/>
              <a:t>c</a:t>
            </a:r>
            <a:r>
              <a:rPr u="none" spc="9" dirty="0"/>
              <a:t>e</a:t>
            </a:r>
            <a:r>
              <a:rPr u="none" dirty="0"/>
              <a:t>	</a:t>
            </a:r>
          </a:p>
        </p:txBody>
      </p:sp>
      <p:sp>
        <p:nvSpPr>
          <p:cNvPr id="4" name="object 4"/>
          <p:cNvSpPr/>
          <p:nvPr/>
        </p:nvSpPr>
        <p:spPr>
          <a:xfrm>
            <a:off x="2269351" y="1478793"/>
            <a:ext cx="8132781" cy="15168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1313235" y="1036648"/>
            <a:ext cx="9871722" cy="14156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343"/>
            <a:r>
              <a:rPr spc="18" dirty="0">
                <a:solidFill>
                  <a:srgbClr val="7F00CC"/>
                </a:solidFill>
              </a:rPr>
              <a:t>De</a:t>
            </a:r>
            <a:r>
              <a:rPr spc="141" dirty="0">
                <a:solidFill>
                  <a:srgbClr val="7F00CC"/>
                </a:solidFill>
                <a:latin typeface="Calibri"/>
                <a:cs typeface="Calibri"/>
              </a:rPr>
              <a:t>ﬁ</a:t>
            </a:r>
            <a:r>
              <a:rPr spc="14" dirty="0">
                <a:solidFill>
                  <a:srgbClr val="7F00CC"/>
                </a:solidFill>
              </a:rPr>
              <a:t>n</a:t>
            </a:r>
            <a:r>
              <a:rPr spc="9" dirty="0">
                <a:solidFill>
                  <a:srgbClr val="7F00CC"/>
                </a:solidFill>
              </a:rPr>
              <a:t>i</a:t>
            </a:r>
            <a:r>
              <a:rPr spc="14" dirty="0">
                <a:solidFill>
                  <a:srgbClr val="7F00CC"/>
                </a:solidFill>
              </a:rPr>
              <a:t>t</a:t>
            </a:r>
            <a:r>
              <a:rPr spc="9" dirty="0">
                <a:solidFill>
                  <a:srgbClr val="7F00CC"/>
                </a:solidFill>
              </a:rPr>
              <a:t>i</a:t>
            </a:r>
            <a:r>
              <a:rPr spc="14" dirty="0">
                <a:solidFill>
                  <a:srgbClr val="7F00CC"/>
                </a:solidFill>
              </a:rPr>
              <a:t>on</a:t>
            </a:r>
            <a:r>
              <a:rPr spc="9" dirty="0">
                <a:solidFill>
                  <a:srgbClr val="7F00CC"/>
                </a:solidFill>
              </a:rPr>
              <a:t>:</a:t>
            </a:r>
            <a:r>
              <a:rPr spc="145" dirty="0">
                <a:solidFill>
                  <a:srgbClr val="7F00CC"/>
                </a:solidFill>
              </a:rPr>
              <a:t> </a:t>
            </a:r>
            <a:r>
              <a:rPr spc="14" dirty="0"/>
              <a:t>Log</a:t>
            </a:r>
            <a:r>
              <a:rPr spc="9" dirty="0"/>
              <a:t>ic</a:t>
            </a:r>
            <a:r>
              <a:rPr spc="14" dirty="0"/>
              <a:t>al</a:t>
            </a:r>
            <a:r>
              <a:rPr spc="-18" dirty="0"/>
              <a:t>l</a:t>
            </a:r>
            <a:r>
              <a:rPr spc="18" dirty="0"/>
              <a:t>y</a:t>
            </a:r>
            <a:r>
              <a:rPr spc="5" dirty="0"/>
              <a:t> </a:t>
            </a:r>
            <a:r>
              <a:rPr spc="23" dirty="0"/>
              <a:t>E</a:t>
            </a:r>
            <a:r>
              <a:rPr spc="14" dirty="0"/>
              <a:t>qu</a:t>
            </a:r>
            <a:r>
              <a:rPr spc="9" dirty="0"/>
              <a:t>i</a:t>
            </a:r>
            <a:r>
              <a:rPr spc="-27" dirty="0"/>
              <a:t>v</a:t>
            </a:r>
            <a:r>
              <a:rPr spc="14" dirty="0"/>
              <a:t>ale</a:t>
            </a:r>
            <a:r>
              <a:rPr spc="5" dirty="0"/>
              <a:t>n</a:t>
            </a:r>
            <a:r>
              <a:rPr spc="9" dirty="0"/>
              <a:t>t</a:t>
            </a:r>
          </a:p>
          <a:p>
            <a:pPr marL="267992">
              <a:spcBef>
                <a:spcPts val="1162"/>
              </a:spcBef>
            </a:pPr>
            <a:r>
              <a:rPr lang="en-US" sz="3267" spc="34" baseline="1157" dirty="0">
                <a:solidFill>
                  <a:srgbClr val="8B1616"/>
                </a:solidFill>
              </a:rPr>
              <a:t>Compound p</a:t>
            </a:r>
            <a:r>
              <a:rPr sz="3267" spc="-47" baseline="1157" dirty="0">
                <a:solidFill>
                  <a:srgbClr val="8B1616"/>
                </a:solidFill>
              </a:rPr>
              <a:t>r</a:t>
            </a:r>
            <a:r>
              <a:rPr sz="3267" spc="20" baseline="1157" dirty="0">
                <a:solidFill>
                  <a:srgbClr val="8B1616"/>
                </a:solidFill>
              </a:rPr>
              <a:t>opo</a:t>
            </a:r>
            <a:r>
              <a:rPr sz="3267" spc="14" baseline="1157" dirty="0">
                <a:solidFill>
                  <a:srgbClr val="8B1616"/>
                </a:solidFill>
              </a:rPr>
              <a:t>s</a:t>
            </a:r>
            <a:r>
              <a:rPr sz="3267" spc="27" baseline="1157" dirty="0">
                <a:solidFill>
                  <a:srgbClr val="8B1616"/>
                </a:solidFill>
              </a:rPr>
              <a:t>i</a:t>
            </a:r>
            <a:r>
              <a:rPr sz="3267" spc="6" baseline="1157" dirty="0">
                <a:solidFill>
                  <a:srgbClr val="8B1616"/>
                </a:solidFill>
              </a:rPr>
              <a:t>t</a:t>
            </a:r>
            <a:r>
              <a:rPr sz="3267" spc="27" baseline="1157" dirty="0">
                <a:solidFill>
                  <a:srgbClr val="8B1616"/>
                </a:solidFill>
              </a:rPr>
              <a:t>i</a:t>
            </a:r>
            <a:r>
              <a:rPr sz="3267" spc="6" baseline="1157" dirty="0">
                <a:solidFill>
                  <a:srgbClr val="8B1616"/>
                </a:solidFill>
              </a:rPr>
              <a:t>o</a:t>
            </a:r>
            <a:r>
              <a:rPr sz="3267" spc="20" baseline="1157" dirty="0">
                <a:solidFill>
                  <a:srgbClr val="8B1616"/>
                </a:solidFill>
              </a:rPr>
              <a:t>n</a:t>
            </a:r>
            <a:r>
              <a:rPr sz="3267" spc="27" baseline="1157" dirty="0">
                <a:solidFill>
                  <a:srgbClr val="8B1616"/>
                </a:solidFill>
              </a:rPr>
              <a:t>s</a:t>
            </a:r>
            <a:r>
              <a:rPr sz="3267" spc="142" baseline="1157" dirty="0">
                <a:solidFill>
                  <a:srgbClr val="8B1616"/>
                </a:solidFill>
              </a:rPr>
              <a:t> </a:t>
            </a:r>
            <a:r>
              <a:rPr sz="2677" b="0" spc="32" dirty="0">
                <a:solidFill>
                  <a:srgbClr val="8B1616"/>
                </a:solidFill>
                <a:latin typeface="Lucida Sans Unicode"/>
                <a:cs typeface="Lucida Sans Unicode"/>
              </a:rPr>
              <a:t>p</a:t>
            </a:r>
            <a:r>
              <a:rPr sz="2677" b="0" spc="-241" dirty="0">
                <a:solidFill>
                  <a:srgbClr val="8B1616"/>
                </a:solidFill>
                <a:latin typeface="Lucida Sans Unicode"/>
                <a:cs typeface="Lucida Sans Unicode"/>
              </a:rPr>
              <a:t> </a:t>
            </a:r>
            <a:r>
              <a:rPr sz="3267" spc="27" baseline="1157" dirty="0">
                <a:solidFill>
                  <a:srgbClr val="8B1616"/>
                </a:solidFill>
              </a:rPr>
              <a:t>a</a:t>
            </a:r>
            <a:r>
              <a:rPr sz="3267" spc="20" baseline="1157" dirty="0">
                <a:solidFill>
                  <a:srgbClr val="8B1616"/>
                </a:solidFill>
              </a:rPr>
              <a:t>n</a:t>
            </a:r>
            <a:r>
              <a:rPr sz="3267" spc="27" baseline="1157" dirty="0">
                <a:solidFill>
                  <a:srgbClr val="8B1616"/>
                </a:solidFill>
              </a:rPr>
              <a:t>d</a:t>
            </a:r>
            <a:r>
              <a:rPr sz="3267" spc="150" baseline="1157" dirty="0">
                <a:solidFill>
                  <a:srgbClr val="8B1616"/>
                </a:solidFill>
              </a:rPr>
              <a:t> </a:t>
            </a:r>
            <a:r>
              <a:rPr sz="2677" b="0" spc="32" dirty="0">
                <a:solidFill>
                  <a:srgbClr val="8B1616"/>
                </a:solidFill>
                <a:latin typeface="Lucida Sans Unicode"/>
                <a:cs typeface="Lucida Sans Unicode"/>
              </a:rPr>
              <a:t>q</a:t>
            </a:r>
            <a:r>
              <a:rPr sz="2677" b="0" spc="-304" dirty="0">
                <a:solidFill>
                  <a:srgbClr val="8B1616"/>
                </a:solidFill>
                <a:latin typeface="Lucida Sans Unicode"/>
                <a:cs typeface="Lucida Sans Unicode"/>
              </a:rPr>
              <a:t> </a:t>
            </a:r>
            <a:r>
              <a:rPr sz="3267" spc="27" baseline="1157" dirty="0">
                <a:solidFill>
                  <a:srgbClr val="8B1616"/>
                </a:solidFill>
              </a:rPr>
              <a:t>are</a:t>
            </a:r>
            <a:r>
              <a:rPr sz="3267" spc="142" baseline="1157" dirty="0">
                <a:solidFill>
                  <a:srgbClr val="8B1616"/>
                </a:solidFill>
              </a:rPr>
              <a:t> </a:t>
            </a:r>
            <a:r>
              <a:rPr sz="3267" spc="27" baseline="1157" dirty="0">
                <a:solidFill>
                  <a:srgbClr val="8B1616"/>
                </a:solidFill>
              </a:rPr>
              <a:t>l</a:t>
            </a:r>
            <a:r>
              <a:rPr sz="3267" spc="6" baseline="1157" dirty="0">
                <a:solidFill>
                  <a:srgbClr val="8B1616"/>
                </a:solidFill>
              </a:rPr>
              <a:t>o</a:t>
            </a:r>
            <a:r>
              <a:rPr sz="3267" spc="20" baseline="1157" dirty="0">
                <a:solidFill>
                  <a:srgbClr val="8B1616"/>
                </a:solidFill>
              </a:rPr>
              <a:t>g</a:t>
            </a:r>
            <a:r>
              <a:rPr sz="3267" spc="27" baseline="1157" dirty="0">
                <a:solidFill>
                  <a:srgbClr val="8B1616"/>
                </a:solidFill>
              </a:rPr>
              <a:t>i</a:t>
            </a:r>
            <a:r>
              <a:rPr sz="3267" spc="14" baseline="1157" dirty="0">
                <a:solidFill>
                  <a:srgbClr val="8B1616"/>
                </a:solidFill>
              </a:rPr>
              <a:t>c</a:t>
            </a:r>
            <a:r>
              <a:rPr sz="3267" spc="20" baseline="1157" dirty="0">
                <a:solidFill>
                  <a:srgbClr val="8B1616"/>
                </a:solidFill>
              </a:rPr>
              <a:t>al</a:t>
            </a:r>
            <a:r>
              <a:rPr sz="3267" spc="-27" baseline="1157" dirty="0">
                <a:solidFill>
                  <a:srgbClr val="8B1616"/>
                </a:solidFill>
              </a:rPr>
              <a:t>l</a:t>
            </a:r>
            <a:r>
              <a:rPr sz="3267" spc="27" baseline="1157" dirty="0">
                <a:solidFill>
                  <a:srgbClr val="8B1616"/>
                </a:solidFill>
              </a:rPr>
              <a:t>y</a:t>
            </a:r>
            <a:r>
              <a:rPr sz="3267" spc="115" baseline="1157" dirty="0">
                <a:solidFill>
                  <a:srgbClr val="8B1616"/>
                </a:solidFill>
              </a:rPr>
              <a:t> </a:t>
            </a:r>
            <a:r>
              <a:rPr sz="3267" spc="27" baseline="1157" dirty="0">
                <a:solidFill>
                  <a:srgbClr val="8B1616"/>
                </a:solidFill>
              </a:rPr>
              <a:t>e</a:t>
            </a:r>
            <a:r>
              <a:rPr sz="3267" spc="20" baseline="1157" dirty="0">
                <a:solidFill>
                  <a:srgbClr val="8B1616"/>
                </a:solidFill>
              </a:rPr>
              <a:t>q</a:t>
            </a:r>
            <a:r>
              <a:rPr sz="3267" spc="6" baseline="1157" dirty="0">
                <a:solidFill>
                  <a:srgbClr val="8B1616"/>
                </a:solidFill>
              </a:rPr>
              <a:t>u</a:t>
            </a:r>
            <a:r>
              <a:rPr sz="3267" spc="27" baseline="1157" dirty="0">
                <a:solidFill>
                  <a:srgbClr val="8B1616"/>
                </a:solidFill>
              </a:rPr>
              <a:t>i</a:t>
            </a:r>
            <a:r>
              <a:rPr sz="3267" spc="-40" baseline="1157" dirty="0">
                <a:solidFill>
                  <a:srgbClr val="8B1616"/>
                </a:solidFill>
              </a:rPr>
              <a:t>v</a:t>
            </a:r>
            <a:r>
              <a:rPr sz="3267" spc="14" baseline="1157" dirty="0">
                <a:solidFill>
                  <a:srgbClr val="8B1616"/>
                </a:solidFill>
              </a:rPr>
              <a:t>a</a:t>
            </a:r>
            <a:r>
              <a:rPr sz="3267" spc="27" baseline="1157" dirty="0">
                <a:solidFill>
                  <a:srgbClr val="8B1616"/>
                </a:solidFill>
              </a:rPr>
              <a:t>l</a:t>
            </a:r>
            <a:r>
              <a:rPr sz="3267" spc="14" baseline="1157" dirty="0">
                <a:solidFill>
                  <a:srgbClr val="8B1616"/>
                </a:solidFill>
              </a:rPr>
              <a:t>e</a:t>
            </a:r>
            <a:r>
              <a:rPr sz="3267" spc="20" baseline="1157" dirty="0">
                <a:solidFill>
                  <a:srgbClr val="8B1616"/>
                </a:solidFill>
              </a:rPr>
              <a:t>n</a:t>
            </a:r>
            <a:r>
              <a:rPr sz="3267" spc="14" baseline="1157" dirty="0">
                <a:solidFill>
                  <a:srgbClr val="8B1616"/>
                </a:solidFill>
              </a:rPr>
              <a:t>t</a:t>
            </a:r>
            <a:r>
              <a:rPr sz="3267" spc="150" baseline="1157" dirty="0">
                <a:solidFill>
                  <a:srgbClr val="8B1616"/>
                </a:solidFill>
              </a:rPr>
              <a:t> </a:t>
            </a:r>
            <a:r>
              <a:rPr sz="4016" b="0" spc="442" baseline="2824" dirty="0">
                <a:solidFill>
                  <a:srgbClr val="8B1616"/>
                </a:solidFill>
                <a:latin typeface="Lucida Sans Unicode"/>
                <a:cs typeface="Lucida Sans Unicode"/>
              </a:rPr>
              <a:t>(</a:t>
            </a:r>
            <a:r>
              <a:rPr sz="2677" b="0" spc="32" dirty="0">
                <a:solidFill>
                  <a:srgbClr val="8B1616"/>
                </a:solidFill>
                <a:latin typeface="Lucida Sans Unicode"/>
                <a:cs typeface="Lucida Sans Unicode"/>
              </a:rPr>
              <a:t>p</a:t>
            </a:r>
            <a:r>
              <a:rPr sz="2677" b="0" spc="123" dirty="0">
                <a:solidFill>
                  <a:srgbClr val="8B1616"/>
                </a:solidFill>
                <a:latin typeface="Lucida Sans Unicode"/>
                <a:cs typeface="Lucida Sans Unicode"/>
              </a:rPr>
              <a:t> </a:t>
            </a:r>
            <a:r>
              <a:rPr sz="2677" b="0" spc="136" dirty="0">
                <a:solidFill>
                  <a:srgbClr val="8B1616"/>
                </a:solidFill>
                <a:latin typeface="Lucida Sans Unicode"/>
                <a:cs typeface="Lucida Sans Unicode"/>
              </a:rPr>
              <a:t>≡</a:t>
            </a:r>
            <a:r>
              <a:rPr sz="2677" b="0" spc="371" dirty="0">
                <a:solidFill>
                  <a:srgbClr val="8B1616"/>
                </a:solidFill>
                <a:latin typeface="Lucida Sans Unicode"/>
                <a:cs typeface="Lucida Sans Unicode"/>
              </a:rPr>
              <a:t> </a:t>
            </a:r>
            <a:r>
              <a:rPr sz="2677" b="0" spc="-127" dirty="0">
                <a:solidFill>
                  <a:srgbClr val="8B1616"/>
                </a:solidFill>
                <a:latin typeface="Lucida Sans Unicode"/>
                <a:cs typeface="Lucida Sans Unicode"/>
              </a:rPr>
              <a:t>q</a:t>
            </a:r>
            <a:r>
              <a:rPr sz="4016" b="0" spc="272" baseline="2824" dirty="0">
                <a:solidFill>
                  <a:srgbClr val="8B1616"/>
                </a:solidFill>
                <a:latin typeface="Lucida Sans Unicode"/>
                <a:cs typeface="Lucida Sans Unicode"/>
              </a:rPr>
              <a:t>)</a:t>
            </a:r>
            <a:endParaRPr sz="4016" baseline="2824" dirty="0">
              <a:latin typeface="Lucida Sans Unicode"/>
              <a:cs typeface="Lucida Sans Unicode"/>
            </a:endParaRPr>
          </a:p>
          <a:p>
            <a:pPr marL="267992">
              <a:spcBef>
                <a:spcPts val="771"/>
              </a:spcBef>
              <a:tabLst>
                <a:tab pos="1337653" algn="l"/>
              </a:tabLst>
            </a:pPr>
            <a:r>
              <a:rPr sz="3267" spc="27" baseline="1157" dirty="0">
                <a:solidFill>
                  <a:srgbClr val="8B1616"/>
                </a:solidFill>
              </a:rPr>
              <a:t>i</a:t>
            </a:r>
            <a:r>
              <a:rPr sz="3267" spc="14" baseline="1157" dirty="0">
                <a:solidFill>
                  <a:srgbClr val="8B1616"/>
                </a:solidFill>
              </a:rPr>
              <a:t>f</a:t>
            </a:r>
            <a:r>
              <a:rPr sz="3267" baseline="1157" dirty="0">
                <a:solidFill>
                  <a:srgbClr val="8B1616"/>
                </a:solidFill>
              </a:rPr>
              <a:t> </a:t>
            </a:r>
            <a:r>
              <a:rPr sz="2677" b="0" spc="32" dirty="0">
                <a:solidFill>
                  <a:srgbClr val="8B1616"/>
                </a:solidFill>
                <a:latin typeface="Lucida Sans Unicode"/>
                <a:cs typeface="Lucida Sans Unicode"/>
              </a:rPr>
              <a:t>p</a:t>
            </a:r>
            <a:r>
              <a:rPr sz="2677" b="0" spc="-77" dirty="0">
                <a:solidFill>
                  <a:srgbClr val="8B1616"/>
                </a:solidFill>
                <a:latin typeface="Lucida Sans Unicode"/>
                <a:cs typeface="Lucida Sans Unicode"/>
              </a:rPr>
              <a:t> </a:t>
            </a:r>
            <a:r>
              <a:rPr sz="2677" b="0" spc="-499" dirty="0">
                <a:solidFill>
                  <a:srgbClr val="8B1616"/>
                </a:solidFill>
                <a:latin typeface="Lucida Sans Unicode"/>
                <a:cs typeface="Lucida Sans Unicode"/>
              </a:rPr>
              <a:t>↔</a:t>
            </a:r>
            <a:r>
              <a:rPr sz="2677" b="0" dirty="0">
                <a:solidFill>
                  <a:srgbClr val="8B1616"/>
                </a:solidFill>
                <a:latin typeface="Lucida Sans Unicode"/>
                <a:cs typeface="Lucida Sans Unicode"/>
              </a:rPr>
              <a:t>	</a:t>
            </a:r>
            <a:r>
              <a:rPr sz="2677" b="0" spc="32" dirty="0">
                <a:solidFill>
                  <a:srgbClr val="8B1616"/>
                </a:solidFill>
                <a:latin typeface="Lucida Sans Unicode"/>
                <a:cs typeface="Lucida Sans Unicode"/>
              </a:rPr>
              <a:t>q</a:t>
            </a:r>
            <a:r>
              <a:rPr sz="2677" b="0" spc="-377" dirty="0">
                <a:solidFill>
                  <a:srgbClr val="8B1616"/>
                </a:solidFill>
                <a:latin typeface="Lucida Sans Unicode"/>
                <a:cs typeface="Lucida Sans Unicode"/>
              </a:rPr>
              <a:t> </a:t>
            </a:r>
            <a:r>
              <a:rPr sz="3267" spc="20" baseline="1157" dirty="0">
                <a:solidFill>
                  <a:srgbClr val="8B1616"/>
                </a:solidFill>
              </a:rPr>
              <a:t>is</a:t>
            </a:r>
            <a:r>
              <a:rPr sz="3267" spc="6" baseline="1157" dirty="0">
                <a:solidFill>
                  <a:srgbClr val="8B1616"/>
                </a:solidFill>
              </a:rPr>
              <a:t> </a:t>
            </a:r>
            <a:r>
              <a:rPr sz="3267" spc="27" baseline="1157" dirty="0">
                <a:solidFill>
                  <a:srgbClr val="8B1616"/>
                </a:solidFill>
              </a:rPr>
              <a:t>a</a:t>
            </a:r>
            <a:r>
              <a:rPr sz="3267" spc="6" baseline="1157" dirty="0">
                <a:solidFill>
                  <a:srgbClr val="8B1616"/>
                </a:solidFill>
              </a:rPr>
              <a:t> </a:t>
            </a:r>
            <a:r>
              <a:rPr sz="3267" spc="20" baseline="1157" dirty="0">
                <a:solidFill>
                  <a:srgbClr val="8B1616"/>
                </a:solidFill>
              </a:rPr>
              <a:t>t</a:t>
            </a:r>
            <a:r>
              <a:rPr sz="3267" spc="14" baseline="1157" dirty="0">
                <a:solidFill>
                  <a:srgbClr val="8B1616"/>
                </a:solidFill>
              </a:rPr>
              <a:t>a</a:t>
            </a:r>
            <a:r>
              <a:rPr sz="3267" spc="20" baseline="1157" dirty="0">
                <a:solidFill>
                  <a:srgbClr val="8B1616"/>
                </a:solidFill>
              </a:rPr>
              <a:t>uto</a:t>
            </a:r>
            <a:r>
              <a:rPr sz="3267" spc="27" baseline="1157" dirty="0">
                <a:solidFill>
                  <a:srgbClr val="8B1616"/>
                </a:solidFill>
              </a:rPr>
              <a:t>l</a:t>
            </a:r>
            <a:r>
              <a:rPr sz="3267" spc="6" baseline="1157" dirty="0">
                <a:solidFill>
                  <a:srgbClr val="8B1616"/>
                </a:solidFill>
              </a:rPr>
              <a:t>o</a:t>
            </a:r>
            <a:r>
              <a:rPr sz="3267" spc="20" baseline="1157" dirty="0">
                <a:solidFill>
                  <a:srgbClr val="8B1616"/>
                </a:solidFill>
              </a:rPr>
              <a:t>g</a:t>
            </a:r>
            <a:r>
              <a:rPr sz="3267" spc="-231" baseline="1157" dirty="0">
                <a:solidFill>
                  <a:srgbClr val="8B1616"/>
                </a:solidFill>
              </a:rPr>
              <a:t>y</a:t>
            </a:r>
            <a:r>
              <a:rPr sz="3267" spc="14" baseline="1157" dirty="0">
                <a:solidFill>
                  <a:srgbClr val="8B1616"/>
                </a:solidFill>
              </a:rPr>
              <a:t>.</a:t>
            </a:r>
            <a:endParaRPr sz="3267" baseline="1157" dirty="0">
              <a:latin typeface="Lucida Sans Unicode"/>
              <a:cs typeface="Lucida Sans Unicod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D46F72-F446-4E76-9A93-AD63D5F2F608}"/>
              </a:ext>
            </a:extLst>
          </p:cNvPr>
          <p:cNvSpPr txBox="1"/>
          <p:nvPr/>
        </p:nvSpPr>
        <p:spPr>
          <a:xfrm>
            <a:off x="1235413" y="2894437"/>
            <a:ext cx="7268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other words, the truth tables for p and q are the same.</a:t>
            </a:r>
          </a:p>
        </p:txBody>
      </p:sp>
    </p:spTree>
    <p:extLst>
      <p:ext uri="{BB962C8B-B14F-4D97-AF65-F5344CB8AC3E}">
        <p14:creationId xmlns:p14="http://schemas.microsoft.com/office/powerpoint/2010/main" val="16638510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925E9-D10C-4019-82A2-A0E841A54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none" dirty="0"/>
              <a:t>          Showing Propositions are Logically Equivalent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81F3C-3A16-4361-BDCB-2E43C231B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38024" y="1142232"/>
            <a:ext cx="9715952" cy="670312"/>
          </a:xfrm>
        </p:spPr>
        <p:txBody>
          <a:bodyPr/>
          <a:lstStyle/>
          <a:p>
            <a:r>
              <a:rPr lang="en-US" dirty="0"/>
              <a:t>Just like we can use truth tables to show a proposition is a tautology, we can also use truth tables to show to propositions are equivalent.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708D55-B86A-42EA-AC26-2E51F59FBF0C}"/>
              </a:ext>
            </a:extLst>
          </p:cNvPr>
          <p:cNvSpPr txBox="1"/>
          <p:nvPr/>
        </p:nvSpPr>
        <p:spPr>
          <a:xfrm>
            <a:off x="1238024" y="2286000"/>
            <a:ext cx="71472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example, are the propositions</a:t>
            </a:r>
          </a:p>
          <a:p>
            <a:r>
              <a:rPr lang="en-US" sz="2400" dirty="0"/>
              <a:t>p → q               and</a:t>
            </a:r>
          </a:p>
          <a:p>
            <a:r>
              <a:rPr lang="en-US" sz="2400" dirty="0"/>
              <a:t>¬p ∨ q              equivalent? 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E8CF2A8-B611-4238-9B06-96F3E19C7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956822"/>
              </p:ext>
            </p:extLst>
          </p:nvPr>
        </p:nvGraphicFramePr>
        <p:xfrm>
          <a:off x="1238024" y="4143802"/>
          <a:ext cx="8128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8023504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6151768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54981277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451634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7137759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¬p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 → 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¬p ∨ 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502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4670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4956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1211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5558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2197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925E9-D10C-4019-82A2-A0E841A54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none" dirty="0"/>
              <a:t>          Showing Propositions are Logically Equivalent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81F3C-3A16-4361-BDCB-2E43C231B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38024" y="1142232"/>
            <a:ext cx="9715952" cy="670312"/>
          </a:xfrm>
        </p:spPr>
        <p:txBody>
          <a:bodyPr/>
          <a:lstStyle/>
          <a:p>
            <a:r>
              <a:rPr lang="en-US" dirty="0"/>
              <a:t>Just like we can use truth tables to show a proposition is a tautology, we can also use truth tables to show to propositions are equivalent.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708D55-B86A-42EA-AC26-2E51F59FBF0C}"/>
              </a:ext>
            </a:extLst>
          </p:cNvPr>
          <p:cNvSpPr txBox="1"/>
          <p:nvPr/>
        </p:nvSpPr>
        <p:spPr>
          <a:xfrm>
            <a:off x="1238024" y="2286000"/>
            <a:ext cx="71472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example, are the propositions</a:t>
            </a:r>
          </a:p>
          <a:p>
            <a:r>
              <a:rPr lang="en-US" sz="2400" dirty="0"/>
              <a:t>p → q               and</a:t>
            </a:r>
          </a:p>
          <a:p>
            <a:r>
              <a:rPr lang="en-US" sz="2400" dirty="0"/>
              <a:t>¬p ∨ q              equivalent? 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E8CF2A8-B611-4238-9B06-96F3E19C7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432060"/>
              </p:ext>
            </p:extLst>
          </p:nvPr>
        </p:nvGraphicFramePr>
        <p:xfrm>
          <a:off x="1238024" y="4143802"/>
          <a:ext cx="8128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8023504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6151768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54981277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451634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7137759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¬p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 → 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¬p ∨ 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502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4670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4956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1211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5558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78693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925E9-D10C-4019-82A2-A0E841A54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none" dirty="0"/>
              <a:t>          Showing Propositions are Logically Equivalent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81F3C-3A16-4361-BDCB-2E43C231B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38024" y="1142232"/>
            <a:ext cx="9715952" cy="670312"/>
          </a:xfrm>
        </p:spPr>
        <p:txBody>
          <a:bodyPr/>
          <a:lstStyle/>
          <a:p>
            <a:r>
              <a:rPr lang="en-US" dirty="0"/>
              <a:t>Just like we can use truth tables to show a proposition is a tautology, we can also use truth tables to show to propositions are equivalent.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708D55-B86A-42EA-AC26-2E51F59FBF0C}"/>
              </a:ext>
            </a:extLst>
          </p:cNvPr>
          <p:cNvSpPr txBox="1"/>
          <p:nvPr/>
        </p:nvSpPr>
        <p:spPr>
          <a:xfrm>
            <a:off x="1238024" y="2286000"/>
            <a:ext cx="47444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example, are the propositions</a:t>
            </a:r>
          </a:p>
          <a:p>
            <a:r>
              <a:rPr lang="en-US" sz="2400" dirty="0"/>
              <a:t>p → q               and</a:t>
            </a:r>
          </a:p>
          <a:p>
            <a:r>
              <a:rPr lang="en-US" sz="2400" dirty="0"/>
              <a:t>¬p ∨ q              equivalent? 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E8CF2A8-B611-4238-9B06-96F3E19C7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155132"/>
              </p:ext>
            </p:extLst>
          </p:nvPr>
        </p:nvGraphicFramePr>
        <p:xfrm>
          <a:off x="1238024" y="4143802"/>
          <a:ext cx="8128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80235044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6151768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54981277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451634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7137759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¬p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 → 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¬p ∨ 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502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4670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4956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1211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555803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ADAAB85-F013-48F4-87B8-03B70D2E26C6}"/>
              </a:ext>
            </a:extLst>
          </p:cNvPr>
          <p:cNvSpPr txBox="1"/>
          <p:nvPr/>
        </p:nvSpPr>
        <p:spPr>
          <a:xfrm>
            <a:off x="6332706" y="2782111"/>
            <a:ext cx="95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Yes!</a:t>
            </a:r>
          </a:p>
        </p:txBody>
      </p:sp>
    </p:spTree>
    <p:extLst>
      <p:ext uri="{BB962C8B-B14F-4D97-AF65-F5344CB8AC3E}">
        <p14:creationId xmlns:p14="http://schemas.microsoft.com/office/powerpoint/2010/main" val="453188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none" dirty="0"/>
              <a:t>Is Exclusive Or Associative?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/>
            </p:nvGraphicFramePr>
            <p:xfrm>
              <a:off x="3189250" y="1512919"/>
              <a:ext cx="4873082" cy="362393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68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345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456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2482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4713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21548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159727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6431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⨁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q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i="0" dirty="0">
                              <a:latin typeface="+mn-lt"/>
                              <a:ea typeface="+mn-ea"/>
                            </a:rPr>
                            <a:t>q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⨁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</m:t>
                              </m:r>
                            </m:oMath>
                          </a14:m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(p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⨁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q</m:t>
                              </m:r>
                            </m:oMath>
                          </a14:m>
                          <a:r>
                            <a:rPr lang="en-US" dirty="0"/>
                            <a:t>)</a:t>
                          </a:r>
                          <a:r>
                            <a:rPr lang="en-US" dirty="0"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⨁</m:t>
                              </m:r>
                            </m:oMath>
                          </a14:m>
                          <a:r>
                            <a:rPr lang="en-US" dirty="0"/>
                            <a:t>r</a:t>
                          </a:r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p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⨁</m:t>
                              </m:r>
                            </m:oMath>
                          </a14:m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(q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⨁</m:t>
                              </m:r>
                              <m:r>
                                <m:rPr>
                                  <m:sty m:val="p"/>
                                </m:rPr>
                                <a:rPr kumimoji="0" lang="en-US" sz="1800" b="0" i="0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r</m:t>
                              </m:r>
                            </m:oMath>
                          </a14:m>
                          <a:r>
                            <a:rPr kumimoji="0" lang="en-US" sz="18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26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26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26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26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26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26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26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26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6201536"/>
                  </p:ext>
                </p:extLst>
              </p:nvPr>
            </p:nvGraphicFramePr>
            <p:xfrm>
              <a:off x="3189250" y="1512919"/>
              <a:ext cx="4873082" cy="362393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687"/>
                    <a:gridCol w="334536"/>
                    <a:gridCol w="345688"/>
                    <a:gridCol w="724829"/>
                    <a:gridCol w="747132"/>
                    <a:gridCol w="1215483"/>
                    <a:gridCol w="1159727"/>
                  </a:tblGrid>
                  <a:tr h="6431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p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q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42017" t="-4717" r="-432773" b="-4754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34146" t="-4717" r="-318699" b="-4754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5500" t="-4717" r="-96000" b="-4754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21579" t="-4717" r="-1053" b="-475472"/>
                          </a:stretch>
                        </a:blipFill>
                      </a:tcPr>
                    </a:tc>
                  </a:tr>
                  <a:tr h="3726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26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26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26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26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26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26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26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226634" y="5531005"/>
                <a:ext cx="858643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So:  (p⨁q) ⨁r 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≡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 p⨁(q⨁r)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And we can write p⨁q ⨁r  without ambiguity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  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634" y="5531005"/>
                <a:ext cx="8586439" cy="1200329"/>
              </a:xfrm>
              <a:prstGeom prst="rect">
                <a:avLst/>
              </a:prstGeom>
              <a:blipFill rotWithShape="0">
                <a:blip r:embed="rId4"/>
                <a:stretch>
                  <a:fillRect l="-568" t="-3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83516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none" dirty="0"/>
              <a:t>So Are All Our Operators Associative?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8024" y="1142232"/>
            <a:ext cx="9715952" cy="670312"/>
          </a:xfrm>
        </p:spPr>
        <p:txBody>
          <a:bodyPr/>
          <a:lstStyle/>
          <a:p>
            <a:r>
              <a:rPr lang="en-US" dirty="0"/>
              <a:t>Let’s do a quiz to figure out if and, or, and implication are also associative.</a:t>
            </a:r>
          </a:p>
        </p:txBody>
      </p:sp>
    </p:spTree>
    <p:extLst>
      <p:ext uri="{BB962C8B-B14F-4D97-AF65-F5344CB8AC3E}">
        <p14:creationId xmlns:p14="http://schemas.microsoft.com/office/powerpoint/2010/main" val="29636566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01669" y="909405"/>
            <a:ext cx="9046797" cy="0"/>
          </a:xfrm>
          <a:custGeom>
            <a:avLst/>
            <a:gdLst/>
            <a:ahLst/>
            <a:cxnLst/>
            <a:rect l="l" t="t" r="r" b="b"/>
            <a:pathLst>
              <a:path w="9968230">
                <a:moveTo>
                  <a:pt x="0" y="0"/>
                </a:moveTo>
                <a:lnTo>
                  <a:pt x="9968230" y="0"/>
                </a:lnTo>
              </a:path>
            </a:pathLst>
          </a:custGeom>
          <a:ln w="7547">
            <a:solidFill>
              <a:srgbClr val="CC0033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091">
              <a:tabLst>
                <a:tab pos="9716280" algn="l"/>
              </a:tabLst>
            </a:pPr>
            <a:r>
              <a:rPr lang="en-US" u="none" spc="-5" dirty="0"/>
              <a:t> </a:t>
            </a:r>
            <a:r>
              <a:rPr u="none" spc="-5" dirty="0"/>
              <a:t>D</a:t>
            </a:r>
            <a:r>
              <a:rPr u="none" spc="9" dirty="0"/>
              <a:t>e</a:t>
            </a:r>
            <a:r>
              <a:rPr u="none" spc="-5" dirty="0"/>
              <a:t> </a:t>
            </a:r>
            <a:r>
              <a:rPr u="none" spc="9" dirty="0"/>
              <a:t>M</a:t>
            </a:r>
            <a:r>
              <a:rPr u="none" dirty="0"/>
              <a:t>o</a:t>
            </a:r>
            <a:r>
              <a:rPr u="none" spc="9" dirty="0"/>
              <a:t>r</a:t>
            </a:r>
            <a:r>
              <a:rPr u="none" dirty="0"/>
              <a:t>g</a:t>
            </a:r>
            <a:r>
              <a:rPr u="none" spc="9" dirty="0"/>
              <a:t>an</a:t>
            </a:r>
            <a:r>
              <a:rPr u="none" spc="-168" dirty="0"/>
              <a:t>’</a:t>
            </a:r>
            <a:r>
              <a:rPr u="none" spc="9" dirty="0"/>
              <a:t>s</a:t>
            </a:r>
            <a:r>
              <a:rPr u="none" spc="-14" dirty="0"/>
              <a:t> </a:t>
            </a:r>
            <a:r>
              <a:rPr u="none" spc="9" dirty="0"/>
              <a:t>L</a:t>
            </a:r>
            <a:r>
              <a:rPr u="none" spc="-64" dirty="0"/>
              <a:t>a</a:t>
            </a:r>
            <a:r>
              <a:rPr u="none" spc="-5" dirty="0"/>
              <a:t>w</a:t>
            </a:r>
            <a:r>
              <a:rPr u="none" spc="9" dirty="0"/>
              <a:t>s</a:t>
            </a:r>
            <a:r>
              <a:rPr u="none" dirty="0"/>
              <a:t>	</a:t>
            </a:r>
          </a:p>
        </p:txBody>
      </p:sp>
      <p:sp>
        <p:nvSpPr>
          <p:cNvPr id="4" name="object 4"/>
          <p:cNvSpPr/>
          <p:nvPr/>
        </p:nvSpPr>
        <p:spPr>
          <a:xfrm>
            <a:off x="2257825" y="3749569"/>
            <a:ext cx="3053477" cy="6570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07711" y="2178424"/>
            <a:ext cx="206315" cy="0"/>
          </a:xfrm>
          <a:custGeom>
            <a:avLst/>
            <a:gdLst/>
            <a:ahLst/>
            <a:cxnLst/>
            <a:rect l="l" t="t" r="r" b="b"/>
            <a:pathLst>
              <a:path w="227329">
                <a:moveTo>
                  <a:pt x="0" y="0"/>
                </a:moveTo>
                <a:lnTo>
                  <a:pt x="227329" y="0"/>
                </a:lnTo>
              </a:path>
            </a:pathLst>
          </a:custGeom>
          <a:ln w="15239">
            <a:solidFill>
              <a:srgbClr val="8B1616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57826" y="1612494"/>
            <a:ext cx="3124136" cy="1944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1622" marR="0" lvl="0" indent="-42187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1355"/>
              <a:buFont typeface="Arial"/>
              <a:buAutoNum type="arabicParenBoth"/>
              <a:tabLst>
                <a:tab pos="661622" algn="l"/>
                <a:tab pos="1723791" algn="l"/>
                <a:tab pos="2249400" algn="l"/>
              </a:tabLst>
              <a:defRPr/>
            </a:pPr>
            <a:r>
              <a:rPr kumimoji="0" sz="2677" b="0" i="0" u="none" strike="noStrike" kern="1200" cap="none" spc="32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p</a:t>
            </a:r>
            <a:r>
              <a:rPr kumimoji="0" sz="2677" b="0" i="0" u="none" strike="noStrike" kern="1200" cap="none" spc="-259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 </a:t>
            </a:r>
            <a:r>
              <a:rPr kumimoji="0" sz="2677" b="0" i="0" u="none" strike="noStrike" kern="1200" cap="none" spc="-150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∧</a:t>
            </a:r>
            <a:r>
              <a:rPr kumimoji="0" sz="2677" b="0" i="0" u="none" strike="noStrike" kern="1200" cap="none" spc="-59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 </a:t>
            </a:r>
            <a:r>
              <a:rPr kumimoji="0" sz="2677" b="0" i="0" u="none" strike="noStrike" kern="1200" cap="none" spc="32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q</a:t>
            </a:r>
            <a:r>
              <a:rPr kumimoji="0" sz="2677" b="0" i="0" u="none" strike="noStrike" kern="1200" cap="none" spc="0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	</a:t>
            </a:r>
            <a:r>
              <a:rPr kumimoji="0" sz="2677" b="0" i="0" u="none" strike="noStrike" kern="1200" cap="none" spc="136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≡</a:t>
            </a:r>
            <a:r>
              <a:rPr kumimoji="0" sz="2677" b="0" i="0" u="none" strike="noStrike" kern="1200" cap="none" spc="0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	</a:t>
            </a:r>
            <a:r>
              <a:rPr kumimoji="0" sz="2677" b="0" i="0" u="none" strike="noStrike" kern="1200" cap="none" spc="32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p</a:t>
            </a:r>
            <a:r>
              <a:rPr kumimoji="0" sz="2677" b="0" i="0" u="none" strike="noStrike" kern="1200" cap="none" spc="-250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 </a:t>
            </a:r>
            <a:r>
              <a:rPr kumimoji="0" sz="2677" b="0" i="0" u="none" strike="noStrike" kern="1200" cap="none" spc="-150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∨</a:t>
            </a:r>
            <a:r>
              <a:rPr kumimoji="0" sz="2677" b="0" i="0" u="none" strike="noStrike" kern="1200" cap="none" spc="-68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 </a:t>
            </a:r>
            <a:r>
              <a:rPr kumimoji="0" sz="2677" b="0" i="0" u="none" strike="noStrike" kern="1200" cap="none" spc="32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q</a:t>
            </a:r>
            <a:endParaRPr kumimoji="0" sz="267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 Unicode"/>
              <a:ea typeface="+mn-ea"/>
              <a:cs typeface="Lucida Sans Unicode"/>
            </a:endParaRPr>
          </a:p>
          <a:p>
            <a:pPr marL="661622" marR="0" lvl="0" indent="-421871" algn="l" defTabSz="914400" rtl="0" eaLnBrk="1" fontAlgn="auto" latinLnBrk="0" hangingPunct="1">
              <a:lnSpc>
                <a:spcPct val="100000"/>
              </a:lnSpc>
              <a:spcBef>
                <a:spcPts val="771"/>
              </a:spcBef>
              <a:spcAft>
                <a:spcPts val="0"/>
              </a:spcAft>
              <a:buClrTx/>
              <a:buSzPct val="83050"/>
              <a:buFont typeface="Arial"/>
              <a:buAutoNum type="arabicParenBoth"/>
              <a:tabLst>
                <a:tab pos="661622" algn="l"/>
                <a:tab pos="1723791" algn="l"/>
                <a:tab pos="2249400" algn="l"/>
              </a:tabLst>
              <a:defRPr/>
            </a:pPr>
            <a:r>
              <a:rPr kumimoji="0" sz="2677" b="0" i="0" u="none" strike="noStrike" kern="1200" cap="none" spc="32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p</a:t>
            </a:r>
            <a:r>
              <a:rPr kumimoji="0" sz="2677" b="0" i="0" u="none" strike="noStrike" kern="1200" cap="none" spc="-259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 </a:t>
            </a:r>
            <a:r>
              <a:rPr kumimoji="0" sz="2677" b="0" i="0" u="none" strike="noStrike" kern="1200" cap="none" spc="-150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∨</a:t>
            </a:r>
            <a:r>
              <a:rPr kumimoji="0" sz="2677" b="0" i="0" u="none" strike="noStrike" kern="1200" cap="none" spc="-59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 </a:t>
            </a:r>
            <a:r>
              <a:rPr kumimoji="0" sz="2677" b="0" i="0" u="none" strike="noStrike" kern="1200" cap="none" spc="32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q</a:t>
            </a:r>
            <a:r>
              <a:rPr kumimoji="0" sz="2677" b="0" i="0" u="none" strike="noStrike" kern="1200" cap="none" spc="0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	</a:t>
            </a:r>
            <a:r>
              <a:rPr kumimoji="0" sz="2677" b="0" i="0" u="none" strike="noStrike" kern="1200" cap="none" spc="136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≡</a:t>
            </a:r>
            <a:r>
              <a:rPr kumimoji="0" sz="2677" b="0" i="0" u="none" strike="noStrike" kern="1200" cap="none" spc="0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	</a:t>
            </a:r>
            <a:r>
              <a:rPr kumimoji="0" sz="2677" b="0" i="0" u="none" strike="noStrike" kern="1200" cap="none" spc="32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p</a:t>
            </a:r>
            <a:r>
              <a:rPr kumimoji="0" sz="2677" b="0" i="0" u="none" strike="noStrike" kern="1200" cap="none" spc="-250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 </a:t>
            </a:r>
            <a:r>
              <a:rPr kumimoji="0" sz="2677" b="0" i="0" u="none" strike="noStrike" kern="1200" cap="none" spc="-150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∧</a:t>
            </a:r>
            <a:r>
              <a:rPr kumimoji="0" sz="2677" b="0" i="0" u="none" strike="noStrike" kern="1200" cap="none" spc="-68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 </a:t>
            </a:r>
            <a:r>
              <a:rPr kumimoji="0" sz="2677" b="0" i="0" u="none" strike="noStrike" kern="1200" cap="none" spc="32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q</a:t>
            </a:r>
            <a:endParaRPr kumimoji="0" sz="267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 Unicode"/>
              <a:ea typeface="+mn-ea"/>
              <a:cs typeface="Lucida Sans Unicode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72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1527" marR="0" lvl="0" indent="0" algn="l" defTabSz="914400" rtl="0" eaLnBrk="1" fontAlgn="auto" latinLnBrk="0" hangingPunct="1">
              <a:lnSpc>
                <a:spcPct val="100000"/>
              </a:lnSpc>
              <a:spcBef>
                <a:spcPts val="204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24" b="1" i="0" u="none" strike="noStrike" kern="1200" cap="none" spc="-9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</a:t>
            </a:r>
            <a:r>
              <a:rPr kumimoji="0" sz="2224" b="1" i="0" u="none" strike="noStrike" kern="1200" cap="none" spc="-18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sz="2224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</a:t>
            </a:r>
            <a:r>
              <a:rPr kumimoji="0" sz="2224" b="1" i="0" u="none" strike="noStrike" kern="1200" cap="none" spc="-14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</a:t>
            </a:r>
            <a:r>
              <a:rPr kumimoji="0" sz="2224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</a:t>
            </a:r>
            <a:r>
              <a:rPr kumimoji="0" sz="2224" b="1" i="0" u="none" strike="noStrike" kern="1200" cap="none" spc="-18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</a:t>
            </a:r>
            <a:r>
              <a:rPr kumimoji="0" sz="2224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</a:t>
            </a:r>
            <a:r>
              <a:rPr kumimoji="0" sz="2224" b="1" i="0" u="none" strike="noStrike" kern="1200" cap="none" spc="-9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s)</a:t>
            </a:r>
            <a:r>
              <a:rPr kumimoji="0" sz="2224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:</a:t>
            </a:r>
            <a:endParaRPr kumimoji="0" sz="2224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28963" y="3684878"/>
            <a:ext cx="1755994" cy="412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27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77" b="0" i="0" u="none" strike="noStrike" kern="1200" cap="none" spc="177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a</a:t>
            </a:r>
            <a:r>
              <a:rPr kumimoji="0" sz="2677" b="0" i="0" u="none" strike="noStrike" kern="1200" cap="none" spc="-100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 </a:t>
            </a:r>
            <a:r>
              <a:rPr kumimoji="0" sz="2677" b="0" i="0" u="none" strike="noStrike" kern="1200" cap="none" spc="-150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∨</a:t>
            </a:r>
            <a:r>
              <a:rPr kumimoji="0" sz="2677" b="0" i="0" u="none" strike="noStrike" kern="1200" cap="none" spc="-77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 </a:t>
            </a:r>
            <a:r>
              <a:rPr kumimoji="0" sz="4016" b="0" i="0" u="none" strike="noStrike" kern="1200" cap="none" spc="456" normalizeH="0" baseline="2824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(</a:t>
            </a:r>
            <a:r>
              <a:rPr kumimoji="0" sz="2677" b="0" i="0" u="none" strike="noStrike" kern="1200" cap="none" spc="32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b</a:t>
            </a:r>
            <a:r>
              <a:rPr kumimoji="0" sz="2677" b="0" i="0" u="none" strike="noStrike" kern="1200" cap="none" spc="-458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 </a:t>
            </a:r>
            <a:r>
              <a:rPr kumimoji="0" sz="2677" b="0" i="0" u="none" strike="noStrike" kern="1200" cap="none" spc="-150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∨</a:t>
            </a:r>
            <a:r>
              <a:rPr kumimoji="0" sz="2677" b="0" i="0" u="none" strike="noStrike" kern="1200" cap="none" spc="-59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 </a:t>
            </a:r>
            <a:r>
              <a:rPr kumimoji="0" sz="2677" b="0" i="0" u="none" strike="noStrike" kern="1200" cap="none" spc="5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c</a:t>
            </a:r>
            <a:r>
              <a:rPr kumimoji="0" sz="4016" b="0" i="0" u="none" strike="noStrike" kern="1200" cap="none" spc="272" normalizeH="0" baseline="2824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)</a:t>
            </a:r>
            <a:endParaRPr kumimoji="0" sz="4016" b="0" i="0" u="none" strike="noStrike" kern="1200" cap="none" spc="0" normalizeH="0" baseline="2824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 Unicode"/>
              <a:ea typeface="+mn-ea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58701" y="3679115"/>
            <a:ext cx="311203" cy="4119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27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77" b="0" i="0" u="none" strike="noStrike" kern="1200" cap="none" spc="136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≡</a:t>
            </a:r>
            <a:endParaRPr kumimoji="0" sz="267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 Unicode"/>
              <a:ea typeface="+mn-ea"/>
              <a:cs typeface="Lucida Sans Unicod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38554" y="1659751"/>
            <a:ext cx="290456" cy="0"/>
          </a:xfrm>
          <a:custGeom>
            <a:avLst/>
            <a:gdLst/>
            <a:ahLst/>
            <a:cxnLst/>
            <a:rect l="l" t="t" r="r" b="b"/>
            <a:pathLst>
              <a:path w="320039">
                <a:moveTo>
                  <a:pt x="0" y="0"/>
                </a:moveTo>
                <a:lnTo>
                  <a:pt x="320039" y="0"/>
                </a:lnTo>
              </a:path>
            </a:pathLst>
          </a:custGeom>
          <a:ln w="27315">
            <a:solidFill>
              <a:srgbClr val="7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890605" y="1647072"/>
            <a:ext cx="912863" cy="0"/>
          </a:xfrm>
          <a:custGeom>
            <a:avLst/>
            <a:gdLst/>
            <a:ahLst/>
            <a:cxnLst/>
            <a:rect l="l" t="t" r="r" b="b"/>
            <a:pathLst>
              <a:path w="1005839">
                <a:moveTo>
                  <a:pt x="0" y="0"/>
                </a:moveTo>
                <a:lnTo>
                  <a:pt x="1005839" y="0"/>
                </a:lnTo>
              </a:path>
            </a:pathLst>
          </a:custGeom>
          <a:ln w="27315">
            <a:solidFill>
              <a:srgbClr val="7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102454" y="1647072"/>
            <a:ext cx="290456" cy="0"/>
          </a:xfrm>
          <a:custGeom>
            <a:avLst/>
            <a:gdLst/>
            <a:ahLst/>
            <a:cxnLst/>
            <a:rect l="l" t="t" r="r" b="b"/>
            <a:pathLst>
              <a:path w="320039">
                <a:moveTo>
                  <a:pt x="0" y="0"/>
                </a:moveTo>
                <a:lnTo>
                  <a:pt x="320039" y="0"/>
                </a:lnTo>
              </a:path>
            </a:pathLst>
          </a:custGeom>
          <a:ln w="27315">
            <a:solidFill>
              <a:srgbClr val="7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425876" y="2170355"/>
            <a:ext cx="290456" cy="0"/>
          </a:xfrm>
          <a:custGeom>
            <a:avLst/>
            <a:gdLst/>
            <a:ahLst/>
            <a:cxnLst/>
            <a:rect l="l" t="t" r="r" b="b"/>
            <a:pathLst>
              <a:path w="320039">
                <a:moveTo>
                  <a:pt x="0" y="0"/>
                </a:moveTo>
                <a:lnTo>
                  <a:pt x="320039" y="0"/>
                </a:lnTo>
              </a:path>
            </a:pathLst>
          </a:custGeom>
          <a:ln w="27315">
            <a:solidFill>
              <a:srgbClr val="7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77927" y="2157676"/>
            <a:ext cx="912863" cy="0"/>
          </a:xfrm>
          <a:custGeom>
            <a:avLst/>
            <a:gdLst/>
            <a:ahLst/>
            <a:cxnLst/>
            <a:rect l="l" t="t" r="r" b="b"/>
            <a:pathLst>
              <a:path w="1005839">
                <a:moveTo>
                  <a:pt x="0" y="0"/>
                </a:moveTo>
                <a:lnTo>
                  <a:pt x="1005839" y="0"/>
                </a:lnTo>
              </a:path>
            </a:pathLst>
          </a:custGeom>
          <a:ln w="27315">
            <a:solidFill>
              <a:srgbClr val="7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089776" y="2157676"/>
            <a:ext cx="290456" cy="0"/>
          </a:xfrm>
          <a:custGeom>
            <a:avLst/>
            <a:gdLst/>
            <a:ahLst/>
            <a:cxnLst/>
            <a:rect l="l" t="t" r="r" b="b"/>
            <a:pathLst>
              <a:path w="320039">
                <a:moveTo>
                  <a:pt x="0" y="0"/>
                </a:moveTo>
                <a:lnTo>
                  <a:pt x="320039" y="0"/>
                </a:lnTo>
              </a:path>
            </a:pathLst>
          </a:custGeom>
          <a:ln w="27315">
            <a:solidFill>
              <a:srgbClr val="7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571333" y="3692946"/>
            <a:ext cx="1867220" cy="0"/>
          </a:xfrm>
          <a:custGeom>
            <a:avLst/>
            <a:gdLst/>
            <a:ahLst/>
            <a:cxnLst/>
            <a:rect l="l" t="t" r="r" b="b"/>
            <a:pathLst>
              <a:path w="2057400">
                <a:moveTo>
                  <a:pt x="0" y="0"/>
                </a:moveTo>
                <a:lnTo>
                  <a:pt x="2057400" y="0"/>
                </a:lnTo>
              </a:path>
            </a:pathLst>
          </a:custGeom>
          <a:ln w="27315">
            <a:solidFill>
              <a:srgbClr val="7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7">
                <a:extLst>
                  <a:ext uri="{FF2B5EF4-FFF2-40B4-BE49-F238E27FC236}">
                    <a16:creationId xmlns:a16="http://schemas.microsoft.com/office/drawing/2014/main" id="{4E259D7E-3DC6-4E1F-B651-99FAB1685C2D}"/>
                  </a:ext>
                </a:extLst>
              </p:cNvPr>
              <p:cNvSpPr txBox="1"/>
              <p:nvPr/>
            </p:nvSpPr>
            <p:spPr>
              <a:xfrm>
                <a:off x="5243648" y="3656518"/>
                <a:ext cx="1755994" cy="42364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1527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0" lang="en-US" sz="2677" b="0" i="1" u="none" strike="noStrike" kern="1200" cap="none" spc="177" normalizeH="0" baseline="0" noProof="0" dirty="0" smtClean="0">
                              <a:ln>
                                <a:noFill/>
                              </a:ln>
                              <a:solidFill>
                                <a:srgbClr val="8B161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Lucida Sans Unicode"/>
                            </a:rPr>
                          </m:ctrlPr>
                        </m:accPr>
                        <m:e>
                          <m:r>
                            <a:rPr kumimoji="0" lang="en-US" sz="2677" b="0" i="1" u="none" strike="noStrike" kern="1200" cap="none" spc="177" normalizeH="0" baseline="0" noProof="0" dirty="0" smtClean="0">
                              <a:ln>
                                <a:noFill/>
                              </a:ln>
                              <a:solidFill>
                                <a:srgbClr val="8B161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Lucida Sans Unicode"/>
                            </a:rPr>
                            <m:t>𝑎</m:t>
                          </m:r>
                        </m:e>
                      </m:acc>
                      <m:r>
                        <a:rPr kumimoji="0" lang="en-US" sz="2677" b="0" i="1" u="none" strike="noStrike" kern="1200" cap="none" spc="-150" normalizeH="0" baseline="0" noProof="0" dirty="0" smtClean="0">
                          <a:ln>
                            <a:noFill/>
                          </a:ln>
                          <a:solidFill>
                            <a:srgbClr val="8B161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Lucida Sans Unicode"/>
                        </a:rPr>
                        <m:t>∧</m:t>
                      </m:r>
                      <m:acc>
                        <m:accPr>
                          <m:chr m:val="̅"/>
                          <m:ctrlPr>
                            <a:rPr kumimoji="0" lang="en-US" sz="2677" b="0" i="1" u="none" strike="noStrike" kern="1200" cap="none" spc="-150" normalizeH="0" baseline="0" noProof="0" dirty="0" smtClean="0">
                              <a:ln>
                                <a:noFill/>
                              </a:ln>
                              <a:solidFill>
                                <a:srgbClr val="8B161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Lucida Sans Unicode"/>
                            </a:rPr>
                          </m:ctrlPr>
                        </m:accPr>
                        <m:e>
                          <m:r>
                            <a:rPr kumimoji="0" lang="en-US" sz="2677" b="0" i="1" u="none" strike="noStrike" kern="1200" cap="none" spc="-150" normalizeH="0" baseline="0" noProof="0" dirty="0" smtClean="0">
                              <a:ln>
                                <a:noFill/>
                              </a:ln>
                              <a:solidFill>
                                <a:srgbClr val="8B161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Lucida Sans Unicode"/>
                            </a:rPr>
                            <m:t>(</m:t>
                          </m:r>
                          <m:r>
                            <a:rPr kumimoji="0" lang="en-US" sz="2677" b="0" i="1" u="none" strike="noStrike" kern="1200" cap="none" spc="-150" normalizeH="0" baseline="0" noProof="0" dirty="0" smtClean="0">
                              <a:ln>
                                <a:noFill/>
                              </a:ln>
                              <a:solidFill>
                                <a:srgbClr val="8B161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Lucida Sans Unicode"/>
                            </a:rPr>
                            <m:t>𝑏</m:t>
                          </m:r>
                          <m:r>
                            <a:rPr kumimoji="0" lang="en-US" sz="2677" b="0" i="1" u="none" strike="noStrike" kern="1200" cap="none" spc="-150" normalizeH="0" baseline="0" noProof="0" dirty="0" smtClean="0">
                              <a:ln>
                                <a:noFill/>
                              </a:ln>
                              <a:solidFill>
                                <a:srgbClr val="8B161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Lucida Sans Unicode"/>
                            </a:rPr>
                            <m:t>∨</m:t>
                          </m:r>
                          <m:r>
                            <a:rPr kumimoji="0" lang="en-US" sz="2677" b="0" i="1" u="none" strike="noStrike" kern="1200" cap="none" spc="-150" normalizeH="0" baseline="0" noProof="0" dirty="0" smtClean="0">
                              <a:ln>
                                <a:noFill/>
                              </a:ln>
                              <a:solidFill>
                                <a:srgbClr val="8B161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Lucida Sans Unicode"/>
                            </a:rPr>
                            <m:t>𝑐</m:t>
                          </m:r>
                          <m:r>
                            <a:rPr kumimoji="0" lang="en-US" sz="2677" b="0" i="1" u="none" strike="noStrike" kern="1200" cap="none" spc="-150" normalizeH="0" baseline="0" noProof="0" dirty="0" smtClean="0">
                              <a:ln>
                                <a:noFill/>
                              </a:ln>
                              <a:solidFill>
                                <a:srgbClr val="8B1616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Lucida Sans Unicode"/>
                            </a:rPr>
                            <m:t>)</m:t>
                          </m:r>
                        </m:e>
                      </m:acc>
                    </m:oMath>
                  </m:oMathPara>
                </a14:m>
                <a:endParaRPr kumimoji="0" sz="4016" b="0" i="0" u="none" strike="noStrike" kern="1200" cap="none" spc="0" normalizeH="0" baseline="2824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 Unicode"/>
                  <a:ea typeface="+mn-ea"/>
                  <a:cs typeface="Lucida Sans Unicode"/>
                </a:endParaRPr>
              </a:p>
            </p:txBody>
          </p:sp>
        </mc:Choice>
        <mc:Fallback xmlns="">
          <p:sp>
            <p:nvSpPr>
              <p:cNvPr id="16" name="object 7">
                <a:extLst>
                  <a:ext uri="{FF2B5EF4-FFF2-40B4-BE49-F238E27FC236}">
                    <a16:creationId xmlns:a16="http://schemas.microsoft.com/office/drawing/2014/main" id="{4E259D7E-3DC6-4E1F-B651-99FAB1685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3648" y="3656518"/>
                <a:ext cx="1755994" cy="4236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bject 8">
            <a:extLst>
              <a:ext uri="{FF2B5EF4-FFF2-40B4-BE49-F238E27FC236}">
                <a16:creationId xmlns:a16="http://schemas.microsoft.com/office/drawing/2014/main" id="{2EDC0FAA-7912-4BA6-9E0C-985FA1ED918D}"/>
              </a:ext>
            </a:extLst>
          </p:cNvPr>
          <p:cNvSpPr txBox="1"/>
          <p:nvPr/>
        </p:nvSpPr>
        <p:spPr>
          <a:xfrm>
            <a:off x="4658701" y="4344720"/>
            <a:ext cx="311203" cy="4119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27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77" b="0" i="0" u="none" strike="noStrike" kern="1200" cap="none" spc="136" normalizeH="0" baseline="0" noProof="0" dirty="0">
                <a:ln>
                  <a:noFill/>
                </a:ln>
                <a:solidFill>
                  <a:srgbClr val="8B1616"/>
                </a:solidFill>
                <a:effectLst/>
                <a:uLnTx/>
                <a:uFillTx/>
                <a:latin typeface="Lucida Sans Unicode"/>
                <a:ea typeface="+mn-ea"/>
                <a:cs typeface="Lucida Sans Unicode"/>
              </a:rPr>
              <a:t>≡</a:t>
            </a:r>
            <a:endParaRPr kumimoji="0" sz="267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 Unicode"/>
              <a:ea typeface="+mn-ea"/>
              <a:cs typeface="Lucida Sans Unicod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7">
                <a:extLst>
                  <a:ext uri="{FF2B5EF4-FFF2-40B4-BE49-F238E27FC236}">
                    <a16:creationId xmlns:a16="http://schemas.microsoft.com/office/drawing/2014/main" id="{61C65B72-3A39-473C-BBC3-75F5E6E98CDC}"/>
                  </a:ext>
                </a:extLst>
              </p:cNvPr>
              <p:cNvSpPr txBox="1"/>
              <p:nvPr/>
            </p:nvSpPr>
            <p:spPr>
              <a:xfrm>
                <a:off x="5243648" y="4259897"/>
                <a:ext cx="1755994" cy="42107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1527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0" lang="ar-AE" sz="2677" b="0" i="1" u="none" strike="noStrike" kern="1200" cap="none" spc="177" normalizeH="0" baseline="0" noProof="0" dirty="0" smtClean="0">
                            <a:ln>
                              <a:noFill/>
                            </a:ln>
                            <a:solidFill>
                              <a:srgbClr val="8B161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Lucida Sans Unicode"/>
                          </a:rPr>
                        </m:ctrlPr>
                      </m:accPr>
                      <m:e>
                        <m:r>
                          <a:rPr kumimoji="0" lang="ar-AE" sz="2677" b="0" i="1" u="none" strike="noStrike" kern="1200" cap="none" spc="177" normalizeH="0" baseline="0" noProof="0" dirty="0" smtClean="0">
                            <a:ln>
                              <a:noFill/>
                            </a:ln>
                            <a:solidFill>
                              <a:srgbClr val="8B161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Lucida Sans Unicode"/>
                          </a:rPr>
                          <m:t>𝑎</m:t>
                        </m:r>
                      </m:e>
                    </m:acc>
                    <m:r>
                      <a:rPr kumimoji="0" lang="ar-AE" sz="2677" b="0" i="1" u="none" strike="noStrike" kern="1200" cap="none" spc="-150" normalizeH="0" baseline="0" noProof="0" dirty="0" smtClean="0">
                        <a:ln>
                          <a:noFill/>
                        </a:ln>
                        <a:solidFill>
                          <a:srgbClr val="8B1616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Lucida Sans Unicode"/>
                      </a:rPr>
                      <m:t>∧  (</m:t>
                    </m:r>
                    <m:acc>
                      <m:accPr>
                        <m:chr m:val="̅"/>
                        <m:ctrlPr>
                          <a:rPr kumimoji="0" lang="ar-AE" sz="2677" b="0" i="1" u="none" strike="noStrike" kern="1200" cap="none" spc="-150" normalizeH="0" baseline="0" noProof="0" dirty="0" smtClean="0">
                            <a:ln>
                              <a:noFill/>
                            </a:ln>
                            <a:solidFill>
                              <a:srgbClr val="8B161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Lucida Sans Unicode"/>
                          </a:rPr>
                        </m:ctrlPr>
                      </m:accPr>
                      <m:e>
                        <m:r>
                          <a:rPr kumimoji="0" lang="ar-AE" sz="2677" b="0" i="1" u="none" strike="noStrike" kern="1200" cap="none" spc="-150" normalizeH="0" baseline="0" noProof="0" dirty="0" smtClean="0">
                            <a:ln>
                              <a:noFill/>
                            </a:ln>
                            <a:solidFill>
                              <a:srgbClr val="8B161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Lucida Sans Unicode"/>
                          </a:rPr>
                          <m:t>𝑏</m:t>
                        </m:r>
                      </m:e>
                    </m:acc>
                  </m:oMath>
                </a14:m>
                <a:r>
                  <a:rPr lang="ar-AE" sz="4016" baseline="2824" dirty="0">
                    <a:solidFill>
                      <a:prstClr val="black"/>
                    </a:solidFill>
                    <a:cs typeface="Lucida Sans Unicode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677" b="0" i="1" u="none" strike="noStrike" kern="1200" cap="none" spc="-150" normalizeH="0" baseline="0" noProof="0" dirty="0" smtClean="0">
                        <a:ln>
                          <a:noFill/>
                        </a:ln>
                        <a:solidFill>
                          <a:srgbClr val="8B1616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Lucida Sans Unicode"/>
                      </a:rPr>
                      <m:t>∧ </m:t>
                    </m:r>
                    <m:acc>
                      <m:accPr>
                        <m:chr m:val="̅"/>
                        <m:ctrlPr>
                          <a:rPr kumimoji="0" lang="en-US" sz="2677" b="0" i="1" u="none" strike="noStrike" kern="1200" cap="none" spc="-150" normalizeH="0" baseline="0" noProof="0" dirty="0" smtClean="0">
                            <a:ln>
                              <a:noFill/>
                            </a:ln>
                            <a:solidFill>
                              <a:srgbClr val="8B161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Lucida Sans Unicode"/>
                          </a:rPr>
                        </m:ctrlPr>
                      </m:accPr>
                      <m:e>
                        <m:r>
                          <a:rPr kumimoji="0" lang="en-US" sz="2677" b="0" i="1" u="none" strike="noStrike" kern="1200" cap="none" spc="-150" normalizeH="0" baseline="0" noProof="0" dirty="0" smtClean="0">
                            <a:ln>
                              <a:noFill/>
                            </a:ln>
                            <a:solidFill>
                              <a:srgbClr val="8B161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Lucida Sans Unicode"/>
                          </a:rPr>
                          <m:t>𝑐</m:t>
                        </m:r>
                      </m:e>
                    </m:acc>
                    <m:r>
                      <a:rPr kumimoji="0" lang="ar-AE" sz="2677" b="0" i="1" u="none" strike="noStrike" kern="1200" cap="none" spc="-150" normalizeH="0" baseline="0" noProof="0" dirty="0" smtClean="0">
                        <a:ln>
                          <a:noFill/>
                        </a:ln>
                        <a:solidFill>
                          <a:srgbClr val="8B1616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Lucida Sans Unicode"/>
                      </a:rPr>
                      <m:t>)</m:t>
                    </m:r>
                  </m:oMath>
                </a14:m>
                <a:endParaRPr kumimoji="0" sz="4016" b="0" i="0" u="none" strike="noStrike" kern="1200" cap="none" spc="0" normalizeH="0" baseline="2824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 Unicode"/>
                  <a:ea typeface="+mn-ea"/>
                  <a:cs typeface="Lucida Sans Unicode"/>
                </a:endParaRPr>
              </a:p>
            </p:txBody>
          </p:sp>
        </mc:Choice>
        <mc:Fallback xmlns="">
          <p:sp>
            <p:nvSpPr>
              <p:cNvPr id="18" name="object 7">
                <a:extLst>
                  <a:ext uri="{FF2B5EF4-FFF2-40B4-BE49-F238E27FC236}">
                    <a16:creationId xmlns:a16="http://schemas.microsoft.com/office/drawing/2014/main" id="{61C65B72-3A39-473C-BBC3-75F5E6E98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3648" y="4259897"/>
                <a:ext cx="1755994" cy="421077"/>
              </a:xfrm>
              <a:prstGeom prst="rect">
                <a:avLst/>
              </a:prstGeom>
              <a:blipFill>
                <a:blip r:embed="rId4"/>
                <a:stretch>
                  <a:fillRect l="-4167" t="-24638" r="-19097" b="-46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62627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01669" y="909405"/>
            <a:ext cx="9046797" cy="0"/>
          </a:xfrm>
          <a:custGeom>
            <a:avLst/>
            <a:gdLst/>
            <a:ahLst/>
            <a:cxnLst/>
            <a:rect l="l" t="t" r="r" b="b"/>
            <a:pathLst>
              <a:path w="9968230">
                <a:moveTo>
                  <a:pt x="0" y="0"/>
                </a:moveTo>
                <a:lnTo>
                  <a:pt x="9968230" y="0"/>
                </a:lnTo>
              </a:path>
            </a:pathLst>
          </a:custGeom>
          <a:ln w="7547">
            <a:solidFill>
              <a:srgbClr val="CC0033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3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091">
              <a:tabLst>
                <a:tab pos="9716280" algn="l"/>
              </a:tabLst>
            </a:pPr>
            <a:r>
              <a:rPr lang="en-US" u="none" spc="-5" dirty="0"/>
              <a:t> </a:t>
            </a:r>
            <a:r>
              <a:rPr u="none" spc="-5" dirty="0"/>
              <a:t>D</a:t>
            </a:r>
            <a:r>
              <a:rPr u="none" spc="9" dirty="0"/>
              <a:t>e</a:t>
            </a:r>
            <a:r>
              <a:rPr u="none" spc="-5" dirty="0"/>
              <a:t> </a:t>
            </a:r>
            <a:r>
              <a:rPr u="none" spc="9" dirty="0"/>
              <a:t>M</a:t>
            </a:r>
            <a:r>
              <a:rPr u="none" dirty="0"/>
              <a:t>o</a:t>
            </a:r>
            <a:r>
              <a:rPr u="none" spc="9" dirty="0"/>
              <a:t>r</a:t>
            </a:r>
            <a:r>
              <a:rPr u="none" dirty="0"/>
              <a:t>g</a:t>
            </a:r>
            <a:r>
              <a:rPr u="none" spc="9" dirty="0"/>
              <a:t>an</a:t>
            </a:r>
            <a:r>
              <a:rPr u="none" spc="-168" dirty="0"/>
              <a:t>’</a:t>
            </a:r>
            <a:r>
              <a:rPr u="none" spc="9" dirty="0"/>
              <a:t>s</a:t>
            </a:r>
            <a:r>
              <a:rPr u="none" spc="-14" dirty="0"/>
              <a:t> </a:t>
            </a:r>
            <a:r>
              <a:rPr u="none" spc="9" dirty="0"/>
              <a:t>L</a:t>
            </a:r>
            <a:r>
              <a:rPr u="none" spc="-64" dirty="0"/>
              <a:t>a</a:t>
            </a:r>
            <a:r>
              <a:rPr u="none" spc="-5" dirty="0"/>
              <a:t>w</a:t>
            </a:r>
            <a:r>
              <a:rPr u="none" spc="9" dirty="0"/>
              <a:t>s</a:t>
            </a:r>
            <a:r>
              <a:rPr u="none" dirty="0"/>
              <a:t>	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07F988-B41D-CA00-30FF-D6BE24A0D22E}"/>
              </a:ext>
            </a:extLst>
          </p:cNvPr>
          <p:cNvSpPr txBox="1"/>
          <p:nvPr/>
        </p:nvSpPr>
        <p:spPr>
          <a:xfrm>
            <a:off x="994611" y="1475874"/>
            <a:ext cx="10732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So we see that </a:t>
            </a:r>
            <a:r>
              <a:rPr lang="en-US" sz="3200" dirty="0" err="1"/>
              <a:t>DeMorgan’s</a:t>
            </a:r>
            <a:r>
              <a:rPr lang="en-US" sz="3200" dirty="0"/>
              <a:t> laws generalize.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1E4E8B1-D5FE-2CF5-9A76-8EF44AA29AA1}"/>
                  </a:ext>
                </a:extLst>
              </p:cNvPr>
              <p:cNvSpPr txBox="1"/>
              <p:nvPr/>
            </p:nvSpPr>
            <p:spPr>
              <a:xfrm>
                <a:off x="994611" y="2757549"/>
                <a:ext cx="1073216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∨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∨…∨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ac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≡</m:t>
                      </m:r>
                      <m:acc>
                        <m:accPr>
                          <m:chr m:val="̅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∧</m:t>
                      </m:r>
                      <m:acc>
                        <m:accPr>
                          <m:chr m:val="̅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∧…∧</m:t>
                      </m:r>
                      <m:acc>
                        <m:accPr>
                          <m:chr m:val="̅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1E4E8B1-D5FE-2CF5-9A76-8EF44AA29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11" y="2757549"/>
                <a:ext cx="10732168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10226DD-D760-4FB3-7377-09984EB0706B}"/>
                  </a:ext>
                </a:extLst>
              </p:cNvPr>
              <p:cNvSpPr txBox="1"/>
              <p:nvPr/>
            </p:nvSpPr>
            <p:spPr>
              <a:xfrm>
                <a:off x="994611" y="3746836"/>
                <a:ext cx="10732168" cy="595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∧…∧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ac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≡</m:t>
                      </m:r>
                      <m:acc>
                        <m:accPr>
                          <m:chr m:val="̅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∨…∨</m:t>
                      </m:r>
                      <m:acc>
                        <m:accPr>
                          <m:chr m:val="̅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10226DD-D760-4FB3-7377-09984EB07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611" y="3746836"/>
                <a:ext cx="10732168" cy="5959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27631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none" dirty="0"/>
              <a:t>          More DeMorgan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8024" y="1142232"/>
            <a:ext cx="9715952" cy="861774"/>
          </a:xfrm>
        </p:spPr>
        <p:txBody>
          <a:bodyPr/>
          <a:lstStyle/>
          <a:p>
            <a:r>
              <a:rPr lang="en-US" sz="2800" dirty="0"/>
              <a:t>The defendants who’ve paid their fine or scheduled an appeal are OK. We want to report the others.</a:t>
            </a:r>
          </a:p>
        </p:txBody>
      </p:sp>
    </p:spTree>
    <p:extLst>
      <p:ext uri="{BB962C8B-B14F-4D97-AF65-F5344CB8AC3E}">
        <p14:creationId xmlns:p14="http://schemas.microsoft.com/office/powerpoint/2010/main" val="41760579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none" dirty="0"/>
              <a:t>          More DeMorgan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8024" y="1142232"/>
            <a:ext cx="9715952" cy="861774"/>
          </a:xfrm>
        </p:spPr>
        <p:txBody>
          <a:bodyPr/>
          <a:lstStyle/>
          <a:p>
            <a:r>
              <a:rPr lang="en-US" sz="2800" dirty="0"/>
              <a:t>The defendants who’ve paid their fine or scheduled an appeal are OK. We want to report the others.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024" y="2284621"/>
            <a:ext cx="978297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 say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p: is paid fine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s: is scheduled appeal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Your fellow programmer has written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if (not p or not s):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                   #report them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 you need to fix the code?</a:t>
            </a:r>
          </a:p>
        </p:txBody>
      </p:sp>
    </p:spTree>
    <p:extLst>
      <p:ext uri="{BB962C8B-B14F-4D97-AF65-F5344CB8AC3E}">
        <p14:creationId xmlns:p14="http://schemas.microsoft.com/office/powerpoint/2010/main" val="963027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none" dirty="0"/>
              <a:t>          More DeMorgan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8024" y="1142232"/>
            <a:ext cx="9715952" cy="861774"/>
          </a:xfrm>
        </p:spPr>
        <p:txBody>
          <a:bodyPr/>
          <a:lstStyle/>
          <a:p>
            <a:r>
              <a:rPr lang="en-US" sz="2800" dirty="0"/>
              <a:t>The defendants who’ve paid their fine or scheduled an appeal are OK. We want to report the others.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998" y="2238927"/>
            <a:ext cx="978297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 say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p: is paid fine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s: is scheduled appeal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Your fellow programmer has written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if 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(not p or not s):</a:t>
            </a:r>
            <a:br>
              <a:rPr lang="en-US" sz="2400" dirty="0">
                <a:solidFill>
                  <a:prstClr val="black"/>
                </a:solidFill>
                <a:latin typeface="Calibri"/>
              </a:rPr>
            </a:br>
            <a:r>
              <a:rPr lang="en-US" sz="2400" dirty="0">
                <a:solidFill>
                  <a:prstClr val="black"/>
                </a:solidFill>
                <a:latin typeface="Calibri"/>
              </a:rPr>
              <a:t>                  #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report them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 you need to fix the code?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Yes! not(p </a:t>
            </a:r>
            <a:r>
              <a:rPr lang="en-US" sz="2400" dirty="0">
                <a:solidFill>
                  <a:srgbClr val="FF0000"/>
                </a:solidFill>
                <a:latin typeface="Calibri"/>
              </a:rPr>
              <a:t>or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s) =  not p and not s</a:t>
            </a:r>
          </a:p>
        </p:txBody>
      </p:sp>
    </p:spTree>
    <p:extLst>
      <p:ext uri="{BB962C8B-B14F-4D97-AF65-F5344CB8AC3E}">
        <p14:creationId xmlns:p14="http://schemas.microsoft.com/office/powerpoint/2010/main" val="22746414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none" dirty="0"/>
              <a:t>          More DeMorgan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8024" y="1142232"/>
            <a:ext cx="9715952" cy="861774"/>
          </a:xfrm>
        </p:spPr>
        <p:txBody>
          <a:bodyPr/>
          <a:lstStyle/>
          <a:p>
            <a:r>
              <a:rPr lang="en-US" sz="2800" dirty="0"/>
              <a:t>Suppose we were skeptical that </a:t>
            </a:r>
            <a:r>
              <a:rPr lang="en-US" sz="2800" dirty="0" err="1"/>
              <a:t>DeMorgan's</a:t>
            </a:r>
            <a:r>
              <a:rPr lang="en-US" sz="2800" dirty="0"/>
              <a:t> laws work.</a:t>
            </a:r>
          </a:p>
          <a:p>
            <a:r>
              <a:rPr lang="en-US" sz="2800" dirty="0"/>
              <a:t>How can we demonstrate that they are correct?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5A83CD-8055-426C-B972-6FE836B73D35}"/>
              </a:ext>
            </a:extLst>
          </p:cNvPr>
          <p:cNvSpPr txBox="1"/>
          <p:nvPr/>
        </p:nvSpPr>
        <p:spPr>
          <a:xfrm>
            <a:off x="3803515" y="3167390"/>
            <a:ext cx="37937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Construct truth tables!</a:t>
            </a:r>
          </a:p>
        </p:txBody>
      </p:sp>
    </p:spTree>
    <p:extLst>
      <p:ext uri="{BB962C8B-B14F-4D97-AF65-F5344CB8AC3E}">
        <p14:creationId xmlns:p14="http://schemas.microsoft.com/office/powerpoint/2010/main" val="2392302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Syntax"/>
        <a:ea typeface="ＭＳ Ｐゴシック"/>
        <a:cs typeface="ＭＳ Ｐゴシック"/>
      </a:majorFont>
      <a:minorFont>
        <a:latin typeface="Times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Futura" charset="0"/>
            <a:ea typeface="ＭＳ Ｐゴシック" charset="0"/>
            <a:cs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Futura" charset="0"/>
            <a:ea typeface="ＭＳ Ｐゴシック" charset="0"/>
            <a:cs typeface="ＭＳ Ｐゴシック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9133</TotalTime>
  <Words>2182</Words>
  <Application>Microsoft Office PowerPoint</Application>
  <PresentationFormat>Widescreen</PresentationFormat>
  <Paragraphs>454</Paragraphs>
  <Slides>40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40</vt:i4>
      </vt:variant>
    </vt:vector>
  </HeadingPairs>
  <TitlesOfParts>
    <vt:vector size="60" baseType="lpstr">
      <vt:lpstr>Arial</vt:lpstr>
      <vt:lpstr>Calibri</vt:lpstr>
      <vt:lpstr>Calibri Light</vt:lpstr>
      <vt:lpstr>Cambria Math</vt:lpstr>
      <vt:lpstr>Futura</vt:lpstr>
      <vt:lpstr>Lato</vt:lpstr>
      <vt:lpstr>Lucida Sans Unicode</vt:lpstr>
      <vt:lpstr>Raleway</vt:lpstr>
      <vt:lpstr>Syntax</vt:lpstr>
      <vt:lpstr>Syntax Bold</vt:lpstr>
      <vt:lpstr>Times</vt:lpstr>
      <vt:lpstr>Times New Roman</vt:lpstr>
      <vt:lpstr>Wingdings</vt:lpstr>
      <vt:lpstr>Zapf Dingbats</vt:lpstr>
      <vt:lpstr>1_Office Theme</vt:lpstr>
      <vt:lpstr>2_Office Theme</vt:lpstr>
      <vt:lpstr>3_Office Theme</vt:lpstr>
      <vt:lpstr>Blank Presentation</vt:lpstr>
      <vt:lpstr>Streamline</vt:lpstr>
      <vt:lpstr>4_Office Theme</vt:lpstr>
      <vt:lpstr>         Announcements – Jan 19 </vt:lpstr>
      <vt:lpstr>1.2 Applications of Propositional Logic</vt:lpstr>
      <vt:lpstr>1.2 Applications of Propositional Logic</vt:lpstr>
      <vt:lpstr>1.2 Applications of Propositional Logic</vt:lpstr>
      <vt:lpstr>1.2 Applications of Propositional Logic</vt:lpstr>
      <vt:lpstr>1.2 Applications of Propositional Logic</vt:lpstr>
      <vt:lpstr>PowerPoint Presentation</vt:lpstr>
      <vt:lpstr>PowerPoint Presentation</vt:lpstr>
      <vt:lpstr>PowerPoint Presentation</vt:lpstr>
      <vt:lpstr>PowerPoint Presentation</vt:lpstr>
      <vt:lpstr>1.2 Applications of Propositional Logic</vt:lpstr>
      <vt:lpstr>Knights and Knaves</vt:lpstr>
      <vt:lpstr>Knights and Knaves</vt:lpstr>
      <vt:lpstr>Knights and Knaves</vt:lpstr>
      <vt:lpstr>1.2 Applications of Propositional Logic</vt:lpstr>
      <vt:lpstr>Logic Circuits</vt:lpstr>
      <vt:lpstr>Logic Circuits</vt:lpstr>
      <vt:lpstr>Logic Circuits</vt:lpstr>
      <vt:lpstr>Logic Circuits</vt:lpstr>
      <vt:lpstr>Logic Circuits</vt:lpstr>
      <vt:lpstr>Logic Circuits</vt:lpstr>
      <vt:lpstr>Logic Circuits</vt:lpstr>
      <vt:lpstr>End of Section 1.2 Starting Section 1.3</vt:lpstr>
      <vt:lpstr> Two Categories of Propositions  </vt:lpstr>
      <vt:lpstr> Two Categories of Propositions  </vt:lpstr>
      <vt:lpstr>          Determining Tautologies</vt:lpstr>
      <vt:lpstr>PowerPoint Presentation</vt:lpstr>
      <vt:lpstr>Satisfiable Proposition</vt:lpstr>
      <vt:lpstr> Biconditionals and Logical Equivalence </vt:lpstr>
      <vt:lpstr>          Showing Propositions are Logically Equivalent </vt:lpstr>
      <vt:lpstr>          Showing Propositions are Logically Equivalent </vt:lpstr>
      <vt:lpstr>          Showing Propositions are Logically Equivalent </vt:lpstr>
      <vt:lpstr>Is Exclusive Or Associative?</vt:lpstr>
      <vt:lpstr>So Are All Our Operators Associative?</vt:lpstr>
      <vt:lpstr> De Morgan’s Laws </vt:lpstr>
      <vt:lpstr> De Morgan’s Laws </vt:lpstr>
      <vt:lpstr>          More DeMorgan</vt:lpstr>
      <vt:lpstr>          More DeMorgan</vt:lpstr>
      <vt:lpstr>          More DeMorgan</vt:lpstr>
      <vt:lpstr>          More DeMorgan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Anson</dc:creator>
  <cp:lastModifiedBy>Anson, Eric Lance - (eanson)</cp:lastModifiedBy>
  <cp:revision>158</cp:revision>
  <dcterms:created xsi:type="dcterms:W3CDTF">2015-08-26T22:28:57Z</dcterms:created>
  <dcterms:modified xsi:type="dcterms:W3CDTF">2024-01-19T17:07:41Z</dcterms:modified>
</cp:coreProperties>
</file>